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In the last few demos, the portal started to persist user conversations and reload historical context. The next step is document intelligence: letting users upload business PDFs and making that content useful to the assistant.
This lesson is a product-oriented overview. We are not writing code yet. We are positioning IronPDF and the broader Iron Suite as a practical document-processing layer for the RAG workflow that follows.
Grounding: The current course outline places this lesson between document upload support and hands-on IronPDF extraction/OCR/preprocessing/RAG demos. Source: Semantic Kernel SDK - Integrating AI in Applications _ Udemy.pdf.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By the end of this lesson, learners should understand why document handling matters and why it is not just a file upload problem. A PDF must be loaded, parsed, normalized, and prepared before the assistant can use it reliably.
We will focus on the role of IronPDF and Iron Suite inside a Semantic Kernel application, then move into hands-on demos in the next lessons.
Grounding: Iron Software describes Iron Suite as a commercial .NET library bundle, not a single monolithic package, and says developers install the individual libraries needed via NuGet. Source: https://ironsoftware.com/suite/ai-info/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The AI model does not magically understand a folder of files. We must convert business documents into clean text and structured metadata that our application can retrieve later.
PDFs are especially important because they preserve layout, but they can be text-based, image-based, or a mixture of both. Some documents contain tables, forms, signatures, images, or scanned pages. That is why a document layer is necessary before the RAG layer.
Grounding: IronOCR documentation notes OCR support for reading PDF files and handling both scanned and searchable PDFs; IronPDF documentation highlights text and image extraction, forms, signing, stamping, splitting, and merging capabilities. Sources: https://ironsoftware.com/csharp/ocr/how-to/input-pdfs/ and https://www.nuget.org/packages/ironpdf/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IronPDF does not replace Semantic Kernel or Azure OpenAI. It handles the PDF. Semantic Kernel handles orchestration, prompts, plugins, and model calls.
The important course design is separation of responsibilities: deterministic document processing first, AI reasoning second. That keeps the application easier to debug and easier to improve.
Grounding: IronPDF documentation and NuGet package metadata describe creating, editing, extracting PDF content, text/images extraction, forms, merge/split, page numbers, headers/footers, watermarking, stamping, and digital signing. Sources: https://ironpdf.com/ and https://www.nuget.org/packages/ironpdf/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For this course, the strongest argument for IronPDF is not abstract marketing. It fits the .NET 10, ASP.NET Core, Azure-oriented portal we are already building.
Students can install a package, write C# code, and keep the PDF processing logic inside the same solution where the Semantic Kernel services live. That makes the learning path coherent.
Grounding: NuGet lists IronPDF platform support including .NET 10 and app models such as console, web, MVC, Blazor, MAUI, Razor Pages, and desktop apps. IronPDF site lists Windows, Linux, macOS, Docker, Azure, AWS, and .NET 10/9/8 LTS support. Sources: https://www.nuget.org/packages/ironpdf/ and https://ironpdf.com/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IronSuite is useful to mention because document intelligence expands quickly. A practical AI app may need PDFs first, then OCR, then spreadsheet extraction, DOCX processing, presentation generation, barcode/QR detection, archive processing, printing, or web scraping.
We should not imply that every project needs every library. The practical message is: install what the workflow requires, and keep each capability in its own service or plugin boundary.
Grounding: Iron Software states Iron Suite includes ten .NET libraries: IronPDF, IronOCR, IronXL, IronWord, IronPPT, IronBarcode, IronQR, IronZIP, IronPrint, and IronWebScraper. It also clarifies there is no single IronSuite NuGet package and each library is installed independently. Source: https://ironsoftware.com/suite/ai-info/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is the pattern we will implement across the next demos. We do not want to send whole documents directly into the model every time. That is expensive, hard to debug, and often less accurate.
The flow is upload, extract, prepare, retrieve, then generate. IronPDF and OCR support sit mostly in the extract stage. Semantic Kernel becomes the orchestration layer that uses the prepared content later.
Grounding: The current course outline explicitly progresses from document upload to IronPDF text extraction, scanned PDF/OCR handling, preprocessing, core RAG concepts, chunking, embeddings, retrieval, grounded responses, citations/source references, and summarized context. Source: Semantic Kernel SDK - Integrating AI in Applications _ Udemy.pdf.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slide keeps the tone credible. We can show IronPDF confidently, but we should not imply that any commercial library is automatically perfect for every workflow.
The right message is that IronPDF is a strong, practical option for .NET document processing, especially where a commercial library, documentation, support, and a broad PDF API are valuable.
Grounding: Iron Software’s own AI information page cautions evaluators to test the specific libraries against their own workload and avoid unsupported claims such as best, fastest, or most accurate. G2 describes IronPDF as a robust C# library for .NET developers to create, edit, and convert PDFs with high fidelity and ease. Sources: https://ironsoftware.com/suite/ai-info/ and https://www.g2.com/products/ironpdf/reviews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overview should transition directly into implementation. Learners should now understand why IronPDF is being introduced and what job it performs in the overall system.
The next demo should be very practical: install the package, load an uploaded PDF, extract text, store the extracted content, and prepare the path toward RAG.
Grounding: This sequence follows the current Section 8 course outline: upload support, IronPDF overview, text extraction, OCR support, preprocessing, RAG, chunking, embeddings, retrieval, grounded responses, source references, and summarized context. Source: Semantic Kernel SDK - Integrating AI in Applications _ Udemy.pdf.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These are the reference categories used to keep the lesson factual. The deck avoids unsupported performance or accuracy claims and frames IronPDF/IronSuite as practical, commercially supported .NET document tooling for the course scenario.
Sources: https://ironpdf.com/ ; https://www.nuget.org/packages/ironpdf/ ; https://ironsoftware.com/suite/ai-info/ ; https://ironsoftware.com/csharp/ocr/how-to/input-pdfs/ ; https://www.g2.com/products/ironpdf/reviews ; Semantic Kernel SDK - Integrating AI in Applications _ Udemy.pdf.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sp>
      <p:sp>
        <p:nvSpPr>
          <p:cNvPr id="4" name="Text 2"/>
          <p:cNvSpPr/>
          <p:nvPr/>
        </p:nvSpPr>
        <p:spPr>
          <a:xfrm>
            <a:off x="11841480" y="6510528"/>
            <a:ext cx="201168" cy="182880"/>
          </a:xfrm>
          <a:prstGeom prst="rect">
            <a:avLst/>
          </a:prstGeom>
          <a:noFill/>
          <a:ln/>
        </p:spPr>
        <p:txBody>
          <a:bodyPr wrap="square" rtlCol="0" anchor="ctr"/>
          <a:lstStyle/>
          <a:p>
            <a:pPr algn="r" indent="0" marL="0">
              <a:buNone/>
            </a:pPr>
            <a:r>
              <a:rPr lang="en-US" sz="1400" dirty="0">
                <a:solidFill>
                  <a:srgbClr val="FFFFFF"/>
                </a:solidFill>
                <a:latin typeface="Arial" pitchFamily="34" charset="0"/>
                <a:ea typeface="Arial" pitchFamily="34" charset="-122"/>
                <a:cs typeface="Arial" pitchFamily="34" charset="-120"/>
              </a:rPr>
              <a:t>1</a:t>
            </a:r>
            <a:endParaRPr lang="en-US" sz="1400" dirty="0"/>
          </a:p>
        </p:txBody>
      </p:sp>
      <p:sp>
        <p:nvSpPr>
          <p:cNvPr id="5" name="Text 3"/>
          <p:cNvSpPr/>
          <p:nvPr/>
        </p:nvSpPr>
        <p:spPr>
          <a:xfrm>
            <a:off x="841248" y="1554480"/>
            <a:ext cx="10241280" cy="1097280"/>
          </a:xfrm>
          <a:prstGeom prst="rect">
            <a:avLst/>
          </a:prstGeom>
          <a:noFill/>
          <a:ln/>
        </p:spPr>
        <p:txBody>
          <a:bodyPr wrap="square" rtlCol="0" anchor="ctr">
            <a:normAutofit/>
          </a:bodyPr>
          <a:lstStyle/>
          <a:p>
            <a:pPr indent="0" marL="0">
              <a:buNone/>
            </a:pPr>
            <a:r>
              <a:rPr lang="en-US" sz="3600" dirty="0">
                <a:solidFill>
                  <a:srgbClr val="007DB3"/>
                </a:solidFill>
              </a:rPr>
              <a:t>IronPDF and IronSuite</a:t>
            </a:r>
            <a:endParaRPr lang="en-US" sz="3600" dirty="0"/>
          </a:p>
          <a:p>
            <a:pPr indent="0" marL="0">
              <a:buNone/>
            </a:pPr>
            <a:r>
              <a:rPr lang="en-US" sz="3600" dirty="0">
                <a:solidFill>
                  <a:srgbClr val="007DB3"/>
                </a:solidFill>
              </a:rPr>
              <a:t>in AI Document Workflows</a:t>
            </a:r>
            <a:endParaRPr lang="en-US" sz="3600" dirty="0"/>
          </a:p>
        </p:txBody>
      </p:sp>
      <p:sp>
        <p:nvSpPr>
          <p:cNvPr id="6" name="Text 4"/>
          <p:cNvSpPr/>
          <p:nvPr/>
        </p:nvSpPr>
        <p:spPr>
          <a:xfrm>
            <a:off x="886968" y="2788920"/>
            <a:ext cx="9966960" cy="685800"/>
          </a:xfrm>
          <a:prstGeom prst="rect">
            <a:avLst/>
          </a:prstGeom>
          <a:noFill/>
          <a:ln/>
        </p:spPr>
        <p:txBody>
          <a:bodyPr wrap="square" rtlCol="0" anchor="ctr">
            <a:normAutofit/>
          </a:bodyPr>
          <a:lstStyle/>
          <a:p>
            <a:pPr indent="0" marL="0">
              <a:buNone/>
            </a:pPr>
            <a:r>
              <a:rPr lang="en-US" sz="2100" dirty="0">
                <a:solidFill>
                  <a:srgbClr val="394052"/>
                </a:solidFill>
              </a:rPr>
              <a:t>A practical overview for document ingestion, extraction, OCR support, and RAG-ready preprocessing in a Semantic Kernel portal.</a:t>
            </a:r>
            <a:endParaRPr lang="en-US" sz="2100" dirty="0"/>
          </a:p>
        </p:txBody>
      </p:sp>
      <p:sp>
        <p:nvSpPr>
          <p:cNvPr id="7" name="Shape 5"/>
          <p:cNvSpPr/>
          <p:nvPr/>
        </p:nvSpPr>
        <p:spPr>
          <a:xfrm>
            <a:off x="8641080" y="3886200"/>
            <a:ext cx="1325880" cy="960120"/>
          </a:xfrm>
          <a:prstGeom prst="rect">
            <a:avLst/>
          </a:prstGeom>
          <a:solidFill>
            <a:srgbClr val="FFFFFF"/>
          </a:solidFill>
          <a:ln w="12700">
            <a:solidFill>
              <a:srgbClr val="DDE2EC"/>
            </a:solidFill>
            <a:prstDash val="solid"/>
          </a:ln>
        </p:spPr>
      </p:sp>
      <p:sp>
        <p:nvSpPr>
          <p:cNvPr id="8" name="Shape 6"/>
          <p:cNvSpPr/>
          <p:nvPr/>
        </p:nvSpPr>
        <p:spPr>
          <a:xfrm>
            <a:off x="10104120" y="3886200"/>
            <a:ext cx="1325880" cy="960120"/>
          </a:xfrm>
          <a:prstGeom prst="rect">
            <a:avLst/>
          </a:prstGeom>
          <a:solidFill>
            <a:srgbClr val="FFFFFF"/>
          </a:solidFill>
          <a:ln w="12700">
            <a:solidFill>
              <a:srgbClr val="DDE2EC"/>
            </a:solidFill>
            <a:prstDash val="solid"/>
          </a:ln>
        </p:spPr>
      </p:sp>
      <p:sp>
        <p:nvSpPr>
          <p:cNvPr id="9" name="Text 7"/>
          <p:cNvSpPr/>
          <p:nvPr/>
        </p:nvSpPr>
        <p:spPr>
          <a:xfrm>
            <a:off x="8732520" y="4187952"/>
            <a:ext cx="1143000" cy="365760"/>
          </a:xfrm>
          <a:prstGeom prst="rect">
            <a:avLst/>
          </a:prstGeom>
          <a:noFill/>
          <a:ln/>
        </p:spPr>
        <p:txBody>
          <a:bodyPr wrap="square" rtlCol="0" anchor="ctr"/>
          <a:lstStyle/>
          <a:p>
            <a:pPr algn="ctr" indent="0" marL="0">
              <a:buNone/>
            </a:pPr>
            <a:r>
              <a:rPr lang="en-US" sz="2300" b="1" dirty="0">
                <a:solidFill>
                  <a:srgbClr val="00A6CE"/>
                </a:solidFill>
              </a:rPr>
              <a:t>PDF</a:t>
            </a:r>
            <a:endParaRPr lang="en-US" sz="2300" dirty="0"/>
          </a:p>
        </p:txBody>
      </p:sp>
      <p:sp>
        <p:nvSpPr>
          <p:cNvPr id="10" name="Text 8"/>
          <p:cNvSpPr/>
          <p:nvPr/>
        </p:nvSpPr>
        <p:spPr>
          <a:xfrm>
            <a:off x="10222992" y="4187952"/>
            <a:ext cx="1078992" cy="365760"/>
          </a:xfrm>
          <a:prstGeom prst="rect">
            <a:avLst/>
          </a:prstGeom>
          <a:noFill/>
          <a:ln/>
        </p:spPr>
        <p:txBody>
          <a:bodyPr wrap="square" rtlCol="0" anchor="ctr"/>
          <a:lstStyle/>
          <a:p>
            <a:pPr algn="ctr" indent="0" marL="0">
              <a:buNone/>
            </a:pPr>
            <a:r>
              <a:rPr lang="en-US" sz="2300" b="1" dirty="0">
                <a:solidFill>
                  <a:srgbClr val="00A6CE"/>
                </a:solidFill>
              </a:rPr>
              <a:t>OCR</a:t>
            </a:r>
            <a:endParaRPr lang="en-US" sz="2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sp>
      <p:sp>
        <p:nvSpPr>
          <p:cNvPr id="4" name="Text 2"/>
          <p:cNvSpPr/>
          <p:nvPr/>
        </p:nvSpPr>
        <p:spPr>
          <a:xfrm>
            <a:off x="11841480" y="6510528"/>
            <a:ext cx="201168" cy="182880"/>
          </a:xfrm>
          <a:prstGeom prst="rect">
            <a:avLst/>
          </a:prstGeom>
          <a:noFill/>
          <a:ln/>
        </p:spPr>
        <p:txBody>
          <a:bodyPr wrap="square" rtlCol="0" anchor="ctr"/>
          <a:lstStyle/>
          <a:p>
            <a:pPr algn="r" indent="0" marL="0">
              <a:buNone/>
            </a:pPr>
            <a:r>
              <a:rPr lang="en-US" sz="1400" dirty="0">
                <a:solidFill>
                  <a:srgbClr val="FFFFFF"/>
                </a:solidFill>
                <a:latin typeface="Arial" pitchFamily="34" charset="0"/>
                <a:ea typeface="Arial" pitchFamily="34" charset="-122"/>
                <a:cs typeface="Arial" pitchFamily="34" charset="-120"/>
              </a:rPr>
              <a:t>2</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indent="0" marL="0">
              <a:buNone/>
            </a:pPr>
            <a:r>
              <a:rPr lang="en-US" sz="3400" dirty="0">
                <a:solidFill>
                  <a:srgbClr val="007DB3"/>
                </a:solidFill>
                <a:latin typeface="Arial" pitchFamily="34" charset="0"/>
                <a:ea typeface="Arial" pitchFamily="34" charset="-122"/>
                <a:cs typeface="Arial" pitchFamily="34" charset="-120"/>
              </a:rPr>
              <a:t>Lesson Objectives</a:t>
            </a:r>
            <a:endParaRPr lang="en-US" sz="3400" dirty="0"/>
          </a:p>
        </p:txBody>
      </p:sp>
      <p:sp>
        <p:nvSpPr>
          <p:cNvPr id="6" name="Text 4"/>
          <p:cNvSpPr/>
          <p:nvPr/>
        </p:nvSpPr>
        <p:spPr>
          <a:xfrm>
            <a:off x="731520" y="157276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7" name="Text 5"/>
          <p:cNvSpPr/>
          <p:nvPr/>
        </p:nvSpPr>
        <p:spPr>
          <a:xfrm>
            <a:off x="1143000" y="155448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Connect documents to AI value</a:t>
            </a:r>
            <a:endParaRPr lang="en-US" sz="2000" dirty="0"/>
          </a:p>
        </p:txBody>
      </p:sp>
      <p:sp>
        <p:nvSpPr>
          <p:cNvPr id="8" name="Text 6"/>
          <p:cNvSpPr/>
          <p:nvPr/>
        </p:nvSpPr>
        <p:spPr>
          <a:xfrm>
            <a:off x="1389888" y="1947672"/>
            <a:ext cx="9966960" cy="566928"/>
          </a:xfrm>
          <a:prstGeom prst="rect">
            <a:avLst/>
          </a:prstGeom>
          <a:noFill/>
          <a:ln/>
        </p:spPr>
        <p:txBody>
          <a:bodyPr wrap="square" rtlCol="0" anchor="ctr">
            <a:normAutofit/>
          </a:bodyPr>
          <a:lstStyle/>
          <a:p>
            <a:pPr indent="0" marL="0">
              <a:buNone/>
            </a:pPr>
            <a:r>
              <a:rPr lang="en-US" sz="1700" dirty="0">
                <a:solidFill>
                  <a:srgbClr val="394052"/>
                </a:solidFill>
              </a:rPr>
              <a:t>Understand why uploaded documents become the knowledge source for grounded responses, summaries, and business assistance.</a:t>
            </a:r>
            <a:endParaRPr lang="en-US" sz="1700" dirty="0"/>
          </a:p>
        </p:txBody>
      </p:sp>
      <p:sp>
        <p:nvSpPr>
          <p:cNvPr id="9" name="Text 7"/>
          <p:cNvSpPr/>
          <p:nvPr/>
        </p:nvSpPr>
        <p:spPr>
          <a:xfrm>
            <a:off x="731520" y="257860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0" name="Text 8"/>
          <p:cNvSpPr/>
          <p:nvPr/>
        </p:nvSpPr>
        <p:spPr>
          <a:xfrm>
            <a:off x="1143000" y="256032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Position IronPDF in the ingestion pipeline</a:t>
            </a:r>
            <a:endParaRPr lang="en-US" sz="2000" dirty="0"/>
          </a:p>
        </p:txBody>
      </p:sp>
      <p:sp>
        <p:nvSpPr>
          <p:cNvPr id="11" name="Text 9"/>
          <p:cNvSpPr/>
          <p:nvPr/>
        </p:nvSpPr>
        <p:spPr>
          <a:xfrm>
            <a:off x="1389888" y="2953512"/>
            <a:ext cx="9966960" cy="566928"/>
          </a:xfrm>
          <a:prstGeom prst="rect">
            <a:avLst/>
          </a:prstGeom>
          <a:noFill/>
          <a:ln/>
        </p:spPr>
        <p:txBody>
          <a:bodyPr wrap="square" rtlCol="0" anchor="ctr">
            <a:normAutofit/>
          </a:bodyPr>
          <a:lstStyle/>
          <a:p>
            <a:pPr indent="0" marL="0">
              <a:buNone/>
            </a:pPr>
            <a:r>
              <a:rPr lang="en-US" sz="1700" dirty="0">
                <a:solidFill>
                  <a:srgbClr val="394052"/>
                </a:solidFill>
              </a:rPr>
              <a:t>See where PDF loading, text extraction, metadata handling, and rendering support fit before chunking and embeddings.</a:t>
            </a:r>
            <a:endParaRPr lang="en-US" sz="1700" dirty="0"/>
          </a:p>
        </p:txBody>
      </p:sp>
      <p:sp>
        <p:nvSpPr>
          <p:cNvPr id="12" name="Text 10"/>
          <p:cNvSpPr/>
          <p:nvPr/>
        </p:nvSpPr>
        <p:spPr>
          <a:xfrm>
            <a:off x="731520" y="358444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3" name="Text 11"/>
          <p:cNvSpPr/>
          <p:nvPr/>
        </p:nvSpPr>
        <p:spPr>
          <a:xfrm>
            <a:off x="1143000" y="356616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Understand the broader IronSuite opportunity</a:t>
            </a:r>
            <a:endParaRPr lang="en-US" sz="2000" dirty="0"/>
          </a:p>
        </p:txBody>
      </p:sp>
      <p:sp>
        <p:nvSpPr>
          <p:cNvPr id="14" name="Text 12"/>
          <p:cNvSpPr/>
          <p:nvPr/>
        </p:nvSpPr>
        <p:spPr>
          <a:xfrm>
            <a:off x="1389888" y="3959352"/>
            <a:ext cx="9966960" cy="566928"/>
          </a:xfrm>
          <a:prstGeom prst="rect">
            <a:avLst/>
          </a:prstGeom>
          <a:noFill/>
          <a:ln/>
        </p:spPr>
        <p:txBody>
          <a:bodyPr wrap="square" rtlCol="0" anchor="ctr">
            <a:normAutofit/>
          </a:bodyPr>
          <a:lstStyle/>
          <a:p>
            <a:pPr indent="0" marL="0">
              <a:buNone/>
            </a:pPr>
            <a:r>
              <a:rPr lang="en-US" sz="1700" dirty="0">
                <a:solidFill>
                  <a:srgbClr val="394052"/>
                </a:solidFill>
              </a:rPr>
              <a:t>Recognize when OCR, Word, Excel, PowerPoint, barcode, QR, ZIP, print, and web scraping tools can support richer document workflows.</a:t>
            </a:r>
            <a:endParaRPr lang="en-US" sz="1700" dirty="0"/>
          </a:p>
        </p:txBody>
      </p:sp>
      <p:sp>
        <p:nvSpPr>
          <p:cNvPr id="15" name="Text 13"/>
          <p:cNvSpPr/>
          <p:nvPr/>
        </p:nvSpPr>
        <p:spPr>
          <a:xfrm>
            <a:off x="731520" y="459028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6" name="Text 14"/>
          <p:cNvSpPr/>
          <p:nvPr/>
        </p:nvSpPr>
        <p:spPr>
          <a:xfrm>
            <a:off x="1143000" y="457200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Prepare for the next demos</a:t>
            </a:r>
            <a:endParaRPr lang="en-US" sz="2000" dirty="0"/>
          </a:p>
        </p:txBody>
      </p:sp>
      <p:sp>
        <p:nvSpPr>
          <p:cNvPr id="17" name="Text 15"/>
          <p:cNvSpPr/>
          <p:nvPr/>
        </p:nvSpPr>
        <p:spPr>
          <a:xfrm>
            <a:off x="1389888" y="4965192"/>
            <a:ext cx="9966960" cy="566928"/>
          </a:xfrm>
          <a:prstGeom prst="rect">
            <a:avLst/>
          </a:prstGeom>
          <a:noFill/>
          <a:ln/>
        </p:spPr>
        <p:txBody>
          <a:bodyPr wrap="square" rtlCol="0" anchor="ctr">
            <a:normAutofit/>
          </a:bodyPr>
          <a:lstStyle/>
          <a:p>
            <a:pPr indent="0" marL="0">
              <a:buNone/>
            </a:pPr>
            <a:r>
              <a:rPr lang="en-US" sz="1700" dirty="0">
                <a:solidFill>
                  <a:srgbClr val="394052"/>
                </a:solidFill>
              </a:rPr>
              <a:t>Set expectations for extracting text, handling scanned PDFs, and preparing content for retrieval-augmented generation.</a:t>
            </a:r>
            <a:endParaRPr lang="en-US" sz="1700" dirty="0"/>
          </a:p>
        </p:txBody>
      </p:sp>
      <p:sp>
        <p:nvSpPr>
          <p:cNvPr id="19" name="Text 16"/>
          <p:cNvSpPr/>
          <p:nvPr/>
        </p:nvSpPr>
        <p:spPr>
          <a:xfrm>
            <a:off x="685800" y="6355080"/>
            <a:ext cx="10424160" cy="228600"/>
          </a:xfrm>
          <a:prstGeom prst="rect">
            <a:avLst/>
          </a:prstGeom>
          <a:noFill/>
          <a:ln/>
        </p:spPr>
        <p:txBody>
          <a:bodyPr wrap="square" rtlCol="0" anchor="ctr">
            <a:normAutofit/>
          </a:bodyPr>
          <a:lstStyle/>
          <a:p>
            <a:pPr indent="0" marL="0">
              <a:buNone/>
            </a:pPr>
            <a:r>
              <a:rPr lang="en-US" sz="750" i="1" dirty="0">
                <a:solidFill>
                  <a:srgbClr val="7A8090"/>
                </a:solidFill>
              </a:rPr>
              <a:t>Source themes: IronPDF docs, Iron Software suite documentation, current course outline.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sp>
      <p:sp>
        <p:nvSpPr>
          <p:cNvPr id="4" name="Text 2"/>
          <p:cNvSpPr/>
          <p:nvPr/>
        </p:nvSpPr>
        <p:spPr>
          <a:xfrm>
            <a:off x="11841480" y="6510528"/>
            <a:ext cx="201168" cy="182880"/>
          </a:xfrm>
          <a:prstGeom prst="rect">
            <a:avLst/>
          </a:prstGeom>
          <a:noFill/>
          <a:ln/>
        </p:spPr>
        <p:txBody>
          <a:bodyPr wrap="square" rtlCol="0" anchor="ctr"/>
          <a:lstStyle/>
          <a:p>
            <a:pPr algn="r" indent="0" marL="0">
              <a:buNone/>
            </a:pPr>
            <a:r>
              <a:rPr lang="en-US" sz="1400" dirty="0">
                <a:solidFill>
                  <a:srgbClr val="FFFFFF"/>
                </a:solidFill>
                <a:latin typeface="Arial" pitchFamily="34" charset="0"/>
                <a:ea typeface="Arial" pitchFamily="34" charset="-122"/>
                <a:cs typeface="Arial" pitchFamily="34" charset="-120"/>
              </a:rPr>
              <a:t>3</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indent="0" marL="0">
              <a:buNone/>
            </a:pPr>
            <a:r>
              <a:rPr lang="en-US" sz="3400" dirty="0">
                <a:solidFill>
                  <a:srgbClr val="007DB3"/>
                </a:solidFill>
                <a:latin typeface="Arial" pitchFamily="34" charset="0"/>
                <a:ea typeface="Arial" pitchFamily="34" charset="-122"/>
                <a:cs typeface="Arial" pitchFamily="34" charset="-120"/>
              </a:rPr>
              <a:t>Why Documents Are Hard for AI Workflows</a:t>
            </a:r>
            <a:endParaRPr lang="en-US" sz="3400" dirty="0"/>
          </a:p>
        </p:txBody>
      </p:sp>
      <p:sp>
        <p:nvSpPr>
          <p:cNvPr id="6" name="Text 4"/>
          <p:cNvSpPr/>
          <p:nvPr/>
        </p:nvSpPr>
        <p:spPr>
          <a:xfrm>
            <a:off x="713232" y="1298448"/>
            <a:ext cx="10607040" cy="320040"/>
          </a:xfrm>
          <a:prstGeom prst="rect">
            <a:avLst/>
          </a:prstGeom>
          <a:noFill/>
          <a:ln/>
        </p:spPr>
        <p:txBody>
          <a:bodyPr wrap="square" rtlCol="0" anchor="ctr">
            <a:normAutofit/>
          </a:bodyPr>
          <a:lstStyle/>
          <a:p>
            <a:pPr indent="0" marL="0">
              <a:buNone/>
            </a:pPr>
            <a:r>
              <a:rPr lang="en-US" sz="1700" dirty="0">
                <a:solidFill>
                  <a:srgbClr val="5B6273"/>
                </a:solidFill>
              </a:rPr>
              <a:t>AI models reason over text, but business documents arrive in many imperfect formats.</a:t>
            </a:r>
            <a:endParaRPr lang="en-US" sz="1700" dirty="0"/>
          </a:p>
        </p:txBody>
      </p:sp>
      <p:sp>
        <p:nvSpPr>
          <p:cNvPr id="7" name="Shape 5"/>
          <p:cNvSpPr/>
          <p:nvPr/>
        </p:nvSpPr>
        <p:spPr>
          <a:xfrm>
            <a:off x="822960" y="1965960"/>
            <a:ext cx="713232" cy="713232"/>
          </a:xfrm>
          <a:prstGeom prst="ellipse">
            <a:avLst/>
          </a:prstGeom>
          <a:solidFill>
            <a:srgbClr val="EAF7FB"/>
          </a:solidFill>
          <a:ln w="12700">
            <a:solidFill>
              <a:srgbClr val="00A6CE"/>
            </a:solidFill>
            <a:prstDash val="solid"/>
          </a:ln>
        </p:spPr>
      </p:sp>
      <p:sp>
        <p:nvSpPr>
          <p:cNvPr id="8" name="Text 6"/>
          <p:cNvSpPr/>
          <p:nvPr/>
        </p:nvSpPr>
        <p:spPr>
          <a:xfrm>
            <a:off x="932688" y="2075688"/>
            <a:ext cx="493776" cy="402336"/>
          </a:xfrm>
          <a:prstGeom prst="rect">
            <a:avLst/>
          </a:prstGeom>
          <a:noFill/>
          <a:ln/>
        </p:spPr>
        <p:txBody>
          <a:bodyPr wrap="square" rtlCol="0" anchor="ctr"/>
          <a:lstStyle/>
          <a:p>
            <a:pPr algn="ctr" indent="0" marL="0">
              <a:buNone/>
            </a:pPr>
            <a:r>
              <a:rPr lang="en-US" sz="2400" dirty="0">
                <a:solidFill>
                  <a:srgbClr val="00A6CE"/>
                </a:solidFill>
              </a:rPr>
              <a:t>📄</a:t>
            </a:r>
            <a:endParaRPr lang="en-US" sz="2400" dirty="0"/>
          </a:p>
        </p:txBody>
      </p:sp>
      <p:sp>
        <p:nvSpPr>
          <p:cNvPr id="9" name="Text 7"/>
          <p:cNvSpPr/>
          <p:nvPr/>
        </p:nvSpPr>
        <p:spPr>
          <a:xfrm>
            <a:off x="676656" y="2752344"/>
            <a:ext cx="1005840" cy="274320"/>
          </a:xfrm>
          <a:prstGeom prst="rect">
            <a:avLst/>
          </a:prstGeom>
          <a:noFill/>
          <a:ln/>
        </p:spPr>
        <p:txBody>
          <a:bodyPr wrap="square" rtlCol="0" anchor="ctr">
            <a:normAutofit/>
          </a:bodyPr>
          <a:lstStyle/>
          <a:p>
            <a:pPr algn="ctr" indent="0" marL="0">
              <a:buNone/>
            </a:pPr>
            <a:r>
              <a:rPr lang="en-US" sz="1100" dirty="0">
                <a:solidFill>
                  <a:srgbClr val="5B6273"/>
                </a:solidFill>
              </a:rPr>
              <a:t>PDFs</a:t>
            </a:r>
            <a:endParaRPr lang="en-US" sz="1100" dirty="0"/>
          </a:p>
        </p:txBody>
      </p:sp>
      <p:sp>
        <p:nvSpPr>
          <p:cNvPr id="10" name="Shape 8"/>
          <p:cNvSpPr/>
          <p:nvPr/>
        </p:nvSpPr>
        <p:spPr>
          <a:xfrm>
            <a:off x="2240280" y="1965960"/>
            <a:ext cx="713232" cy="713232"/>
          </a:xfrm>
          <a:prstGeom prst="ellipse">
            <a:avLst/>
          </a:prstGeom>
          <a:solidFill>
            <a:srgbClr val="EAF7FB"/>
          </a:solidFill>
          <a:ln w="12700">
            <a:solidFill>
              <a:srgbClr val="00A6CE"/>
            </a:solidFill>
            <a:prstDash val="solid"/>
          </a:ln>
        </p:spPr>
      </p:sp>
      <p:sp>
        <p:nvSpPr>
          <p:cNvPr id="11" name="Text 9"/>
          <p:cNvSpPr/>
          <p:nvPr/>
        </p:nvSpPr>
        <p:spPr>
          <a:xfrm>
            <a:off x="2350008" y="2075688"/>
            <a:ext cx="493776" cy="402336"/>
          </a:xfrm>
          <a:prstGeom prst="rect">
            <a:avLst/>
          </a:prstGeom>
          <a:noFill/>
          <a:ln/>
        </p:spPr>
        <p:txBody>
          <a:bodyPr wrap="square" rtlCol="0" anchor="ctr"/>
          <a:lstStyle/>
          <a:p>
            <a:pPr algn="ctr" indent="0" marL="0">
              <a:buNone/>
            </a:pPr>
            <a:r>
              <a:rPr lang="en-US" sz="2400" dirty="0">
                <a:solidFill>
                  <a:srgbClr val="00A6CE"/>
                </a:solidFill>
              </a:rPr>
              <a:t>🔍</a:t>
            </a:r>
            <a:endParaRPr lang="en-US" sz="2400" dirty="0"/>
          </a:p>
        </p:txBody>
      </p:sp>
      <p:sp>
        <p:nvSpPr>
          <p:cNvPr id="12" name="Text 10"/>
          <p:cNvSpPr/>
          <p:nvPr/>
        </p:nvSpPr>
        <p:spPr>
          <a:xfrm>
            <a:off x="2093976" y="2752344"/>
            <a:ext cx="1005840" cy="274320"/>
          </a:xfrm>
          <a:prstGeom prst="rect">
            <a:avLst/>
          </a:prstGeom>
          <a:noFill/>
          <a:ln/>
        </p:spPr>
        <p:txBody>
          <a:bodyPr wrap="square" rtlCol="0" anchor="ctr">
            <a:normAutofit/>
          </a:bodyPr>
          <a:lstStyle/>
          <a:p>
            <a:pPr algn="ctr" indent="0" marL="0">
              <a:buNone/>
            </a:pPr>
            <a:r>
              <a:rPr lang="en-US" sz="1100" dirty="0">
                <a:solidFill>
                  <a:srgbClr val="5B6273"/>
                </a:solidFill>
              </a:rPr>
              <a:t>Scans</a:t>
            </a:r>
            <a:endParaRPr lang="en-US" sz="1100" dirty="0"/>
          </a:p>
        </p:txBody>
      </p:sp>
      <p:sp>
        <p:nvSpPr>
          <p:cNvPr id="13" name="Shape 11"/>
          <p:cNvSpPr/>
          <p:nvPr/>
        </p:nvSpPr>
        <p:spPr>
          <a:xfrm>
            <a:off x="3657600" y="1965960"/>
            <a:ext cx="713232" cy="713232"/>
          </a:xfrm>
          <a:prstGeom prst="ellipse">
            <a:avLst/>
          </a:prstGeom>
          <a:solidFill>
            <a:srgbClr val="EAF7FB"/>
          </a:solidFill>
          <a:ln w="12700">
            <a:solidFill>
              <a:srgbClr val="00A6CE"/>
            </a:solidFill>
            <a:prstDash val="solid"/>
          </a:ln>
        </p:spPr>
      </p:sp>
      <p:sp>
        <p:nvSpPr>
          <p:cNvPr id="14" name="Text 12"/>
          <p:cNvSpPr/>
          <p:nvPr/>
        </p:nvSpPr>
        <p:spPr>
          <a:xfrm>
            <a:off x="3767328" y="2075688"/>
            <a:ext cx="493776" cy="402336"/>
          </a:xfrm>
          <a:prstGeom prst="rect">
            <a:avLst/>
          </a:prstGeom>
          <a:noFill/>
          <a:ln/>
        </p:spPr>
        <p:txBody>
          <a:bodyPr wrap="square" rtlCol="0" anchor="ctr"/>
          <a:lstStyle/>
          <a:p>
            <a:pPr algn="ctr" indent="0" marL="0">
              <a:buNone/>
            </a:pPr>
            <a:r>
              <a:rPr lang="en-US" sz="2400" dirty="0">
                <a:solidFill>
                  <a:srgbClr val="00A6CE"/>
                </a:solidFill>
              </a:rPr>
              <a:t>▦</a:t>
            </a:r>
            <a:endParaRPr lang="en-US" sz="2400" dirty="0"/>
          </a:p>
        </p:txBody>
      </p:sp>
      <p:sp>
        <p:nvSpPr>
          <p:cNvPr id="15" name="Text 13"/>
          <p:cNvSpPr/>
          <p:nvPr/>
        </p:nvSpPr>
        <p:spPr>
          <a:xfrm>
            <a:off x="3511296" y="2752344"/>
            <a:ext cx="1005840" cy="274320"/>
          </a:xfrm>
          <a:prstGeom prst="rect">
            <a:avLst/>
          </a:prstGeom>
          <a:noFill/>
          <a:ln/>
        </p:spPr>
        <p:txBody>
          <a:bodyPr wrap="square" rtlCol="0" anchor="ctr">
            <a:normAutofit/>
          </a:bodyPr>
          <a:lstStyle/>
          <a:p>
            <a:pPr algn="ctr" indent="0" marL="0">
              <a:buNone/>
            </a:pPr>
            <a:r>
              <a:rPr lang="en-US" sz="1100" dirty="0">
                <a:solidFill>
                  <a:srgbClr val="5B6273"/>
                </a:solidFill>
              </a:rPr>
              <a:t>Tables</a:t>
            </a:r>
            <a:endParaRPr lang="en-US" sz="1100" dirty="0"/>
          </a:p>
        </p:txBody>
      </p:sp>
      <p:sp>
        <p:nvSpPr>
          <p:cNvPr id="16" name="Shape 14"/>
          <p:cNvSpPr/>
          <p:nvPr/>
        </p:nvSpPr>
        <p:spPr>
          <a:xfrm>
            <a:off x="5074920" y="1965960"/>
            <a:ext cx="713232" cy="713232"/>
          </a:xfrm>
          <a:prstGeom prst="ellipse">
            <a:avLst/>
          </a:prstGeom>
          <a:solidFill>
            <a:srgbClr val="EAF7FB"/>
          </a:solidFill>
          <a:ln w="12700">
            <a:solidFill>
              <a:srgbClr val="00A6CE"/>
            </a:solidFill>
            <a:prstDash val="solid"/>
          </a:ln>
        </p:spPr>
      </p:sp>
      <p:sp>
        <p:nvSpPr>
          <p:cNvPr id="17" name="Text 15"/>
          <p:cNvSpPr/>
          <p:nvPr/>
        </p:nvSpPr>
        <p:spPr>
          <a:xfrm>
            <a:off x="5184648" y="2075688"/>
            <a:ext cx="493776" cy="402336"/>
          </a:xfrm>
          <a:prstGeom prst="rect">
            <a:avLst/>
          </a:prstGeom>
          <a:noFill/>
          <a:ln/>
        </p:spPr>
        <p:txBody>
          <a:bodyPr wrap="square" rtlCol="0" anchor="ctr"/>
          <a:lstStyle/>
          <a:p>
            <a:pPr algn="ctr" indent="0" marL="0">
              <a:buNone/>
            </a:pPr>
            <a:r>
              <a:rPr lang="en-US" sz="2400" dirty="0">
                <a:solidFill>
                  <a:srgbClr val="00A6CE"/>
                </a:solidFill>
              </a:rPr>
              <a:t>☑</a:t>
            </a:r>
            <a:endParaRPr lang="en-US" sz="2400" dirty="0"/>
          </a:p>
        </p:txBody>
      </p:sp>
      <p:sp>
        <p:nvSpPr>
          <p:cNvPr id="18" name="Text 16"/>
          <p:cNvSpPr/>
          <p:nvPr/>
        </p:nvSpPr>
        <p:spPr>
          <a:xfrm>
            <a:off x="4928616" y="2752344"/>
            <a:ext cx="1005840" cy="274320"/>
          </a:xfrm>
          <a:prstGeom prst="rect">
            <a:avLst/>
          </a:prstGeom>
          <a:noFill/>
          <a:ln/>
        </p:spPr>
        <p:txBody>
          <a:bodyPr wrap="square" rtlCol="0" anchor="ctr">
            <a:normAutofit/>
          </a:bodyPr>
          <a:lstStyle/>
          <a:p>
            <a:pPr algn="ctr" indent="0" marL="0">
              <a:buNone/>
            </a:pPr>
            <a:r>
              <a:rPr lang="en-US" sz="1100" dirty="0">
                <a:solidFill>
                  <a:srgbClr val="5B6273"/>
                </a:solidFill>
              </a:rPr>
              <a:t>Forms</a:t>
            </a:r>
            <a:endParaRPr lang="en-US" sz="1100" dirty="0"/>
          </a:p>
        </p:txBody>
      </p:sp>
      <p:sp>
        <p:nvSpPr>
          <p:cNvPr id="19" name="Shape 17"/>
          <p:cNvSpPr/>
          <p:nvPr/>
        </p:nvSpPr>
        <p:spPr>
          <a:xfrm>
            <a:off x="6492240" y="1965960"/>
            <a:ext cx="713232" cy="713232"/>
          </a:xfrm>
          <a:prstGeom prst="ellipse">
            <a:avLst/>
          </a:prstGeom>
          <a:solidFill>
            <a:srgbClr val="EAF7FB"/>
          </a:solidFill>
          <a:ln w="12700">
            <a:solidFill>
              <a:srgbClr val="00A6CE"/>
            </a:solidFill>
            <a:prstDash val="solid"/>
          </a:ln>
        </p:spPr>
      </p:sp>
      <p:sp>
        <p:nvSpPr>
          <p:cNvPr id="20" name="Text 18"/>
          <p:cNvSpPr/>
          <p:nvPr/>
        </p:nvSpPr>
        <p:spPr>
          <a:xfrm>
            <a:off x="6601968" y="2075688"/>
            <a:ext cx="493776" cy="402336"/>
          </a:xfrm>
          <a:prstGeom prst="rect">
            <a:avLst/>
          </a:prstGeom>
          <a:noFill/>
          <a:ln/>
        </p:spPr>
        <p:txBody>
          <a:bodyPr wrap="square" rtlCol="0" anchor="ctr"/>
          <a:lstStyle/>
          <a:p>
            <a:pPr algn="ctr" indent="0" marL="0">
              <a:buNone/>
            </a:pPr>
            <a:r>
              <a:rPr lang="en-US" sz="2400" dirty="0">
                <a:solidFill>
                  <a:srgbClr val="00A6CE"/>
                </a:solidFill>
              </a:rPr>
              <a:t>▣</a:t>
            </a:r>
            <a:endParaRPr lang="en-US" sz="2400" dirty="0"/>
          </a:p>
        </p:txBody>
      </p:sp>
      <p:sp>
        <p:nvSpPr>
          <p:cNvPr id="21" name="Text 19"/>
          <p:cNvSpPr/>
          <p:nvPr/>
        </p:nvSpPr>
        <p:spPr>
          <a:xfrm>
            <a:off x="6345936" y="2752344"/>
            <a:ext cx="1005840" cy="274320"/>
          </a:xfrm>
          <a:prstGeom prst="rect">
            <a:avLst/>
          </a:prstGeom>
          <a:noFill/>
          <a:ln/>
        </p:spPr>
        <p:txBody>
          <a:bodyPr wrap="square" rtlCol="0" anchor="ctr">
            <a:normAutofit/>
          </a:bodyPr>
          <a:lstStyle/>
          <a:p>
            <a:pPr algn="ctr" indent="0" marL="0">
              <a:buNone/>
            </a:pPr>
            <a:r>
              <a:rPr lang="en-US" sz="1100" dirty="0">
                <a:solidFill>
                  <a:srgbClr val="5B6273"/>
                </a:solidFill>
              </a:rPr>
              <a:t>Images</a:t>
            </a:r>
            <a:endParaRPr lang="en-US" sz="1100" dirty="0"/>
          </a:p>
        </p:txBody>
      </p:sp>
      <p:sp>
        <p:nvSpPr>
          <p:cNvPr id="22" name="Shape 20"/>
          <p:cNvSpPr/>
          <p:nvPr/>
        </p:nvSpPr>
        <p:spPr>
          <a:xfrm>
            <a:off x="7909560" y="1965960"/>
            <a:ext cx="713232" cy="713232"/>
          </a:xfrm>
          <a:prstGeom prst="ellipse">
            <a:avLst/>
          </a:prstGeom>
          <a:solidFill>
            <a:srgbClr val="EAF7FB"/>
          </a:solidFill>
          <a:ln w="12700">
            <a:solidFill>
              <a:srgbClr val="00A6CE"/>
            </a:solidFill>
            <a:prstDash val="solid"/>
          </a:ln>
        </p:spPr>
      </p:sp>
      <p:sp>
        <p:nvSpPr>
          <p:cNvPr id="23" name="Text 21"/>
          <p:cNvSpPr/>
          <p:nvPr/>
        </p:nvSpPr>
        <p:spPr>
          <a:xfrm>
            <a:off x="8019288" y="2075688"/>
            <a:ext cx="493776" cy="402336"/>
          </a:xfrm>
          <a:prstGeom prst="rect">
            <a:avLst/>
          </a:prstGeom>
          <a:noFill/>
          <a:ln/>
        </p:spPr>
        <p:txBody>
          <a:bodyPr wrap="square" rtlCol="0" anchor="ctr"/>
          <a:lstStyle/>
          <a:p>
            <a:pPr algn="ctr" indent="0" marL="0">
              <a:buNone/>
            </a:pPr>
            <a:r>
              <a:rPr lang="en-US" sz="2400" dirty="0">
                <a:solidFill>
                  <a:srgbClr val="00A6CE"/>
                </a:solidFill>
              </a:rPr>
              <a:t>▤</a:t>
            </a:r>
            <a:endParaRPr lang="en-US" sz="2400" dirty="0"/>
          </a:p>
        </p:txBody>
      </p:sp>
      <p:sp>
        <p:nvSpPr>
          <p:cNvPr id="24" name="Text 22"/>
          <p:cNvSpPr/>
          <p:nvPr/>
        </p:nvSpPr>
        <p:spPr>
          <a:xfrm>
            <a:off x="7763256" y="2752344"/>
            <a:ext cx="1005840" cy="274320"/>
          </a:xfrm>
          <a:prstGeom prst="rect">
            <a:avLst/>
          </a:prstGeom>
          <a:noFill/>
          <a:ln/>
        </p:spPr>
        <p:txBody>
          <a:bodyPr wrap="square" rtlCol="0" anchor="ctr">
            <a:normAutofit/>
          </a:bodyPr>
          <a:lstStyle/>
          <a:p>
            <a:pPr algn="ctr" indent="0" marL="0">
              <a:buNone/>
            </a:pPr>
            <a:r>
              <a:rPr lang="en-US" sz="1100" dirty="0">
                <a:solidFill>
                  <a:srgbClr val="5B6273"/>
                </a:solidFill>
              </a:rPr>
              <a:t>Office files</a:t>
            </a:r>
            <a:endParaRPr lang="en-US" sz="1100" dirty="0"/>
          </a:p>
        </p:txBody>
      </p:sp>
      <p:sp>
        <p:nvSpPr>
          <p:cNvPr id="25" name="Shape 23"/>
          <p:cNvSpPr/>
          <p:nvPr/>
        </p:nvSpPr>
        <p:spPr>
          <a:xfrm>
            <a:off x="9326880" y="1965960"/>
            <a:ext cx="713232" cy="713232"/>
          </a:xfrm>
          <a:prstGeom prst="ellipse">
            <a:avLst/>
          </a:prstGeom>
          <a:solidFill>
            <a:srgbClr val="EAF7FB"/>
          </a:solidFill>
          <a:ln w="12700">
            <a:solidFill>
              <a:srgbClr val="00A6CE"/>
            </a:solidFill>
            <a:prstDash val="solid"/>
          </a:ln>
        </p:spPr>
      </p:sp>
      <p:sp>
        <p:nvSpPr>
          <p:cNvPr id="26" name="Text 24"/>
          <p:cNvSpPr/>
          <p:nvPr/>
        </p:nvSpPr>
        <p:spPr>
          <a:xfrm>
            <a:off x="9436608" y="2075688"/>
            <a:ext cx="493776" cy="402336"/>
          </a:xfrm>
          <a:prstGeom prst="rect">
            <a:avLst/>
          </a:prstGeom>
          <a:noFill/>
          <a:ln/>
        </p:spPr>
        <p:txBody>
          <a:bodyPr wrap="square" rtlCol="0" anchor="ctr"/>
          <a:lstStyle/>
          <a:p>
            <a:pPr algn="ctr" indent="0" marL="0">
              <a:buNone/>
            </a:pPr>
            <a:r>
              <a:rPr lang="en-US" sz="2400" dirty="0">
                <a:solidFill>
                  <a:srgbClr val="00A6CE"/>
                </a:solidFill>
              </a:rPr>
              <a:t>🌐</a:t>
            </a:r>
            <a:endParaRPr lang="en-US" sz="2400" dirty="0"/>
          </a:p>
        </p:txBody>
      </p:sp>
      <p:sp>
        <p:nvSpPr>
          <p:cNvPr id="27" name="Text 25"/>
          <p:cNvSpPr/>
          <p:nvPr/>
        </p:nvSpPr>
        <p:spPr>
          <a:xfrm>
            <a:off x="9180576" y="2752344"/>
            <a:ext cx="1005840" cy="274320"/>
          </a:xfrm>
          <a:prstGeom prst="rect">
            <a:avLst/>
          </a:prstGeom>
          <a:noFill/>
          <a:ln/>
        </p:spPr>
        <p:txBody>
          <a:bodyPr wrap="square" rtlCol="0" anchor="ctr">
            <a:normAutofit/>
          </a:bodyPr>
          <a:lstStyle/>
          <a:p>
            <a:pPr algn="ctr" indent="0" marL="0">
              <a:buNone/>
            </a:pPr>
            <a:r>
              <a:rPr lang="en-US" sz="1100" dirty="0">
                <a:solidFill>
                  <a:srgbClr val="5B6273"/>
                </a:solidFill>
              </a:rPr>
              <a:t>Web pages</a:t>
            </a:r>
            <a:endParaRPr lang="en-US" sz="1100" dirty="0"/>
          </a:p>
        </p:txBody>
      </p:sp>
      <p:sp>
        <p:nvSpPr>
          <p:cNvPr id="28" name="Shape 26"/>
          <p:cNvSpPr/>
          <p:nvPr/>
        </p:nvSpPr>
        <p:spPr>
          <a:xfrm>
            <a:off x="1005840" y="3977640"/>
            <a:ext cx="9326880" cy="0"/>
          </a:xfrm>
          <a:prstGeom prst="line">
            <a:avLst/>
          </a:prstGeom>
          <a:noFill/>
          <a:ln w="25400">
            <a:solidFill>
              <a:srgbClr val="DDE2EC"/>
            </a:solidFill>
            <a:prstDash val="solid"/>
          </a:ln>
        </p:spPr>
      </p:sp>
      <p:sp>
        <p:nvSpPr>
          <p:cNvPr id="29" name="Text 27"/>
          <p:cNvSpPr/>
          <p:nvPr/>
        </p:nvSpPr>
        <p:spPr>
          <a:xfrm>
            <a:off x="822960" y="417880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30" name="Text 28"/>
          <p:cNvSpPr/>
          <p:nvPr/>
        </p:nvSpPr>
        <p:spPr>
          <a:xfrm>
            <a:off x="1234440" y="416052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The assistant needs clean, retrievable text</a:t>
            </a:r>
            <a:endParaRPr lang="en-US" sz="2000" dirty="0"/>
          </a:p>
        </p:txBody>
      </p:sp>
      <p:sp>
        <p:nvSpPr>
          <p:cNvPr id="31" name="Text 29"/>
          <p:cNvSpPr/>
          <p:nvPr/>
        </p:nvSpPr>
        <p:spPr>
          <a:xfrm>
            <a:off x="1481328" y="4553712"/>
            <a:ext cx="9966960" cy="566928"/>
          </a:xfrm>
          <a:prstGeom prst="rect">
            <a:avLst/>
          </a:prstGeom>
          <a:noFill/>
          <a:ln/>
        </p:spPr>
        <p:txBody>
          <a:bodyPr wrap="square" rtlCol="0" anchor="ctr">
            <a:normAutofit/>
          </a:bodyPr>
          <a:lstStyle/>
          <a:p>
            <a:pPr indent="0" marL="0">
              <a:buNone/>
            </a:pPr>
            <a:r>
              <a:rPr lang="en-US" sz="1700" dirty="0">
                <a:solidFill>
                  <a:srgbClr val="394052"/>
                </a:solidFill>
              </a:rPr>
              <a:t>Raw files are not enough. We need extraction, OCR when necessary, metadata, chunking, embeddings, and source references.</a:t>
            </a:r>
            <a:endParaRPr lang="en-US" sz="1700" dirty="0"/>
          </a:p>
        </p:txBody>
      </p:sp>
      <p:sp>
        <p:nvSpPr>
          <p:cNvPr id="32" name="Text 30"/>
          <p:cNvSpPr/>
          <p:nvPr/>
        </p:nvSpPr>
        <p:spPr>
          <a:xfrm>
            <a:off x="822960" y="541324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33" name="Text 31"/>
          <p:cNvSpPr/>
          <p:nvPr/>
        </p:nvSpPr>
        <p:spPr>
          <a:xfrm>
            <a:off x="1234440" y="539496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This is where document tooling matters</a:t>
            </a:r>
            <a:endParaRPr lang="en-US" sz="2000" dirty="0"/>
          </a:p>
        </p:txBody>
      </p:sp>
      <p:sp>
        <p:nvSpPr>
          <p:cNvPr id="34" name="Text 32"/>
          <p:cNvSpPr/>
          <p:nvPr/>
        </p:nvSpPr>
        <p:spPr>
          <a:xfrm>
            <a:off x="1481328" y="5788152"/>
            <a:ext cx="9966960" cy="566928"/>
          </a:xfrm>
          <a:prstGeom prst="rect">
            <a:avLst/>
          </a:prstGeom>
          <a:noFill/>
          <a:ln/>
        </p:spPr>
        <p:txBody>
          <a:bodyPr wrap="square" rtlCol="0" anchor="ctr">
            <a:normAutofit/>
          </a:bodyPr>
          <a:lstStyle/>
          <a:p>
            <a:pPr indent="0" marL="0">
              <a:buNone/>
            </a:pPr>
            <a:r>
              <a:rPr lang="en-US" sz="1700" dirty="0">
                <a:solidFill>
                  <a:srgbClr val="394052"/>
                </a:solidFill>
              </a:rPr>
              <a:t>A reliable AI workflow depends on deterministic preprocessing before the model is asked to summarize or answer questions.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sp>
      <p:sp>
        <p:nvSpPr>
          <p:cNvPr id="4" name="Text 2"/>
          <p:cNvSpPr/>
          <p:nvPr/>
        </p:nvSpPr>
        <p:spPr>
          <a:xfrm>
            <a:off x="11841480" y="6510528"/>
            <a:ext cx="201168" cy="182880"/>
          </a:xfrm>
          <a:prstGeom prst="rect">
            <a:avLst/>
          </a:prstGeom>
          <a:noFill/>
          <a:ln/>
        </p:spPr>
        <p:txBody>
          <a:bodyPr wrap="square" rtlCol="0" anchor="ctr"/>
          <a:lstStyle/>
          <a:p>
            <a:pPr algn="r" indent="0" marL="0">
              <a:buNone/>
            </a:pPr>
            <a:r>
              <a:rPr lang="en-US" sz="1400" dirty="0">
                <a:solidFill>
                  <a:srgbClr val="FFFFFF"/>
                </a:solidFill>
                <a:latin typeface="Arial" pitchFamily="34" charset="0"/>
                <a:ea typeface="Arial" pitchFamily="34" charset="-122"/>
                <a:cs typeface="Arial" pitchFamily="34" charset="-120"/>
              </a:rPr>
              <a:t>4</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indent="0" marL="0">
              <a:buNone/>
            </a:pPr>
            <a:r>
              <a:rPr lang="en-US" sz="3400" dirty="0">
                <a:solidFill>
                  <a:srgbClr val="007DB3"/>
                </a:solidFill>
                <a:latin typeface="Arial" pitchFamily="34" charset="0"/>
                <a:ea typeface="Arial" pitchFamily="34" charset="-122"/>
                <a:cs typeface="Arial" pitchFamily="34" charset="-120"/>
              </a:rPr>
              <a:t>Where IronPDF Fits</a:t>
            </a:r>
            <a:endParaRPr lang="en-US" sz="3400" dirty="0"/>
          </a:p>
        </p:txBody>
      </p:sp>
      <p:sp>
        <p:nvSpPr>
          <p:cNvPr id="6" name="Text 4"/>
          <p:cNvSpPr/>
          <p:nvPr/>
        </p:nvSpPr>
        <p:spPr>
          <a:xfrm>
            <a:off x="713232" y="1298448"/>
            <a:ext cx="10607040" cy="320040"/>
          </a:xfrm>
          <a:prstGeom prst="rect">
            <a:avLst/>
          </a:prstGeom>
          <a:noFill/>
          <a:ln/>
        </p:spPr>
        <p:txBody>
          <a:bodyPr wrap="square" rtlCol="0" anchor="ctr">
            <a:normAutofit/>
          </a:bodyPr>
          <a:lstStyle/>
          <a:p>
            <a:pPr indent="0" marL="0">
              <a:buNone/>
            </a:pPr>
            <a:r>
              <a:rPr lang="en-US" sz="1700" dirty="0">
                <a:solidFill>
                  <a:srgbClr val="5B6273"/>
                </a:solidFill>
              </a:rPr>
              <a:t>IronPDF serves as the PDF handling layer before Semantic Kernel sees the content.</a:t>
            </a:r>
            <a:endParaRPr lang="en-US" sz="1700" dirty="0"/>
          </a:p>
        </p:txBody>
      </p:sp>
      <p:sp>
        <p:nvSpPr>
          <p:cNvPr id="7" name="Shape 5"/>
          <p:cNvSpPr/>
          <p:nvPr/>
        </p:nvSpPr>
        <p:spPr>
          <a:xfrm>
            <a:off x="658368" y="2057400"/>
            <a:ext cx="1261872" cy="713232"/>
          </a:xfrm>
          <a:prstGeom prst="roundRect">
            <a:avLst>
              <a:gd name="adj" fmla="val 10256"/>
            </a:avLst>
          </a:prstGeom>
          <a:solidFill>
            <a:srgbClr val="FFFFFF"/>
          </a:solidFill>
          <a:ln w="15240">
            <a:solidFill>
              <a:srgbClr val="DDE2EC"/>
            </a:solidFill>
            <a:prstDash val="solid"/>
          </a:ln>
        </p:spPr>
      </p:sp>
      <p:sp>
        <p:nvSpPr>
          <p:cNvPr id="8" name="Text 6"/>
          <p:cNvSpPr/>
          <p:nvPr/>
        </p:nvSpPr>
        <p:spPr>
          <a:xfrm>
            <a:off x="731520" y="2185416"/>
            <a:ext cx="1115568" cy="210312"/>
          </a:xfrm>
          <a:prstGeom prst="rect">
            <a:avLst/>
          </a:prstGeom>
          <a:noFill/>
          <a:ln/>
        </p:spPr>
        <p:txBody>
          <a:bodyPr wrap="square" rtlCol="0" anchor="ctr"/>
          <a:lstStyle/>
          <a:p>
            <a:pPr algn="ctr" indent="0" marL="0">
              <a:buNone/>
            </a:pPr>
            <a:r>
              <a:rPr lang="en-US" sz="1350" b="1" dirty="0">
                <a:solidFill>
                  <a:srgbClr val="394052"/>
                </a:solidFill>
              </a:rPr>
              <a:t>Upload</a:t>
            </a:r>
            <a:endParaRPr lang="en-US" sz="1350" dirty="0"/>
          </a:p>
        </p:txBody>
      </p:sp>
      <p:sp>
        <p:nvSpPr>
          <p:cNvPr id="9" name="Text 7"/>
          <p:cNvSpPr/>
          <p:nvPr/>
        </p:nvSpPr>
        <p:spPr>
          <a:xfrm>
            <a:off x="731520" y="2450592"/>
            <a:ext cx="1115568" cy="228600"/>
          </a:xfrm>
          <a:prstGeom prst="rect">
            <a:avLst/>
          </a:prstGeom>
          <a:noFill/>
          <a:ln/>
        </p:spPr>
        <p:txBody>
          <a:bodyPr wrap="square" rtlCol="0" anchor="ctr">
            <a:normAutofit/>
          </a:bodyPr>
          <a:lstStyle/>
          <a:p>
            <a:pPr algn="ctr" indent="0" marL="0">
              <a:buNone/>
            </a:pPr>
            <a:r>
              <a:rPr lang="en-US" sz="850" dirty="0">
                <a:solidFill>
                  <a:srgbClr val="5B6273"/>
                </a:solidFill>
              </a:rPr>
              <a:t>User adds a document</a:t>
            </a:r>
            <a:endParaRPr lang="en-US" sz="850" dirty="0"/>
          </a:p>
        </p:txBody>
      </p:sp>
      <p:sp>
        <p:nvSpPr>
          <p:cNvPr id="10" name="Shape 8"/>
          <p:cNvSpPr/>
          <p:nvPr/>
        </p:nvSpPr>
        <p:spPr>
          <a:xfrm>
            <a:off x="2002536" y="2295144"/>
            <a:ext cx="292608" cy="256032"/>
          </a:xfrm>
          <a:prstGeom prst="rightArrow">
            <a:avLst/>
          </a:prstGeom>
          <a:solidFill>
            <a:srgbClr val="00A6CE"/>
          </a:solidFill>
          <a:ln w="12700">
            <a:solidFill>
              <a:srgbClr val="00A6CE"/>
            </a:solidFill>
            <a:prstDash val="solid"/>
          </a:ln>
        </p:spPr>
      </p:sp>
      <p:sp>
        <p:nvSpPr>
          <p:cNvPr id="11" name="Shape 9"/>
          <p:cNvSpPr/>
          <p:nvPr/>
        </p:nvSpPr>
        <p:spPr>
          <a:xfrm>
            <a:off x="2423160" y="2057400"/>
            <a:ext cx="1261872" cy="713232"/>
          </a:xfrm>
          <a:prstGeom prst="roundRect">
            <a:avLst>
              <a:gd name="adj" fmla="val 10256"/>
            </a:avLst>
          </a:prstGeom>
          <a:solidFill>
            <a:srgbClr val="EAF7FB"/>
          </a:solidFill>
          <a:ln w="15240">
            <a:solidFill>
              <a:srgbClr val="00A6CE"/>
            </a:solidFill>
            <a:prstDash val="solid"/>
          </a:ln>
        </p:spPr>
      </p:sp>
      <p:sp>
        <p:nvSpPr>
          <p:cNvPr id="12" name="Text 10"/>
          <p:cNvSpPr/>
          <p:nvPr/>
        </p:nvSpPr>
        <p:spPr>
          <a:xfrm>
            <a:off x="2496312" y="2185416"/>
            <a:ext cx="1115568" cy="210312"/>
          </a:xfrm>
          <a:prstGeom prst="rect">
            <a:avLst/>
          </a:prstGeom>
          <a:noFill/>
          <a:ln/>
        </p:spPr>
        <p:txBody>
          <a:bodyPr wrap="square" rtlCol="0" anchor="ctr"/>
          <a:lstStyle/>
          <a:p>
            <a:pPr algn="ctr" indent="0" marL="0">
              <a:buNone/>
            </a:pPr>
            <a:r>
              <a:rPr lang="en-US" sz="1350" b="1" dirty="0">
                <a:solidFill>
                  <a:srgbClr val="394052"/>
                </a:solidFill>
              </a:rPr>
              <a:t>Load PDF</a:t>
            </a:r>
            <a:endParaRPr lang="en-US" sz="1350" dirty="0"/>
          </a:p>
        </p:txBody>
      </p:sp>
      <p:sp>
        <p:nvSpPr>
          <p:cNvPr id="13" name="Text 11"/>
          <p:cNvSpPr/>
          <p:nvPr/>
        </p:nvSpPr>
        <p:spPr>
          <a:xfrm>
            <a:off x="2496312" y="2450592"/>
            <a:ext cx="1115568" cy="228600"/>
          </a:xfrm>
          <a:prstGeom prst="rect">
            <a:avLst/>
          </a:prstGeom>
          <a:noFill/>
          <a:ln/>
        </p:spPr>
        <p:txBody>
          <a:bodyPr wrap="square" rtlCol="0" anchor="ctr">
            <a:normAutofit/>
          </a:bodyPr>
          <a:lstStyle/>
          <a:p>
            <a:pPr algn="ctr" indent="0" marL="0">
              <a:buNone/>
            </a:pPr>
            <a:r>
              <a:rPr lang="en-US" sz="850" dirty="0">
                <a:solidFill>
                  <a:srgbClr val="5B6273"/>
                </a:solidFill>
              </a:rPr>
              <a:t>Open and inspect PDF</a:t>
            </a:r>
            <a:endParaRPr lang="en-US" sz="850" dirty="0"/>
          </a:p>
        </p:txBody>
      </p:sp>
      <p:sp>
        <p:nvSpPr>
          <p:cNvPr id="14" name="Shape 12"/>
          <p:cNvSpPr/>
          <p:nvPr/>
        </p:nvSpPr>
        <p:spPr>
          <a:xfrm>
            <a:off x="3767328" y="2295144"/>
            <a:ext cx="292608" cy="256032"/>
          </a:xfrm>
          <a:prstGeom prst="rightArrow">
            <a:avLst/>
          </a:prstGeom>
          <a:solidFill>
            <a:srgbClr val="00A6CE"/>
          </a:solidFill>
          <a:ln w="12700">
            <a:solidFill>
              <a:srgbClr val="00A6CE"/>
            </a:solidFill>
            <a:prstDash val="solid"/>
          </a:ln>
        </p:spPr>
      </p:sp>
      <p:sp>
        <p:nvSpPr>
          <p:cNvPr id="15" name="Shape 13"/>
          <p:cNvSpPr/>
          <p:nvPr/>
        </p:nvSpPr>
        <p:spPr>
          <a:xfrm>
            <a:off x="4187952" y="2057400"/>
            <a:ext cx="1261872" cy="713232"/>
          </a:xfrm>
          <a:prstGeom prst="roundRect">
            <a:avLst>
              <a:gd name="adj" fmla="val 10256"/>
            </a:avLst>
          </a:prstGeom>
          <a:solidFill>
            <a:srgbClr val="EAF7FB"/>
          </a:solidFill>
          <a:ln w="15240">
            <a:solidFill>
              <a:srgbClr val="00A6CE"/>
            </a:solidFill>
            <a:prstDash val="solid"/>
          </a:ln>
        </p:spPr>
      </p:sp>
      <p:sp>
        <p:nvSpPr>
          <p:cNvPr id="16" name="Text 14"/>
          <p:cNvSpPr/>
          <p:nvPr/>
        </p:nvSpPr>
        <p:spPr>
          <a:xfrm>
            <a:off x="4261104" y="2185416"/>
            <a:ext cx="1115568" cy="210312"/>
          </a:xfrm>
          <a:prstGeom prst="rect">
            <a:avLst/>
          </a:prstGeom>
          <a:noFill/>
          <a:ln/>
        </p:spPr>
        <p:txBody>
          <a:bodyPr wrap="square" rtlCol="0" anchor="ctr"/>
          <a:lstStyle/>
          <a:p>
            <a:pPr algn="ctr" indent="0" marL="0">
              <a:buNone/>
            </a:pPr>
            <a:r>
              <a:rPr lang="en-US" sz="1350" b="1" dirty="0">
                <a:solidFill>
                  <a:srgbClr val="394052"/>
                </a:solidFill>
              </a:rPr>
              <a:t>Extract</a:t>
            </a:r>
            <a:endParaRPr lang="en-US" sz="1350" dirty="0"/>
          </a:p>
        </p:txBody>
      </p:sp>
      <p:sp>
        <p:nvSpPr>
          <p:cNvPr id="17" name="Text 15"/>
          <p:cNvSpPr/>
          <p:nvPr/>
        </p:nvSpPr>
        <p:spPr>
          <a:xfrm>
            <a:off x="4261104" y="2450592"/>
            <a:ext cx="1115568" cy="228600"/>
          </a:xfrm>
          <a:prstGeom prst="rect">
            <a:avLst/>
          </a:prstGeom>
          <a:noFill/>
          <a:ln/>
        </p:spPr>
        <p:txBody>
          <a:bodyPr wrap="square" rtlCol="0" anchor="ctr">
            <a:normAutofit/>
          </a:bodyPr>
          <a:lstStyle/>
          <a:p>
            <a:pPr algn="ctr" indent="0" marL="0">
              <a:buNone/>
            </a:pPr>
            <a:r>
              <a:rPr lang="en-US" sz="850" dirty="0">
                <a:solidFill>
                  <a:srgbClr val="5B6273"/>
                </a:solidFill>
              </a:rPr>
              <a:t>Text, images, forms</a:t>
            </a:r>
            <a:endParaRPr lang="en-US" sz="850" dirty="0"/>
          </a:p>
        </p:txBody>
      </p:sp>
      <p:sp>
        <p:nvSpPr>
          <p:cNvPr id="18" name="Shape 16"/>
          <p:cNvSpPr/>
          <p:nvPr/>
        </p:nvSpPr>
        <p:spPr>
          <a:xfrm>
            <a:off x="5532120" y="2295144"/>
            <a:ext cx="292608" cy="256032"/>
          </a:xfrm>
          <a:prstGeom prst="rightArrow">
            <a:avLst/>
          </a:prstGeom>
          <a:solidFill>
            <a:srgbClr val="00A6CE"/>
          </a:solidFill>
          <a:ln w="12700">
            <a:solidFill>
              <a:srgbClr val="00A6CE"/>
            </a:solidFill>
            <a:prstDash val="solid"/>
          </a:ln>
        </p:spPr>
      </p:sp>
      <p:sp>
        <p:nvSpPr>
          <p:cNvPr id="19" name="Shape 17"/>
          <p:cNvSpPr/>
          <p:nvPr/>
        </p:nvSpPr>
        <p:spPr>
          <a:xfrm>
            <a:off x="5952744" y="2057400"/>
            <a:ext cx="1261872" cy="713232"/>
          </a:xfrm>
          <a:prstGeom prst="roundRect">
            <a:avLst>
              <a:gd name="adj" fmla="val 10256"/>
            </a:avLst>
          </a:prstGeom>
          <a:solidFill>
            <a:srgbClr val="FFFFFF"/>
          </a:solidFill>
          <a:ln w="15240">
            <a:solidFill>
              <a:srgbClr val="DDE2EC"/>
            </a:solidFill>
            <a:prstDash val="solid"/>
          </a:ln>
        </p:spPr>
      </p:sp>
      <p:sp>
        <p:nvSpPr>
          <p:cNvPr id="20" name="Text 18"/>
          <p:cNvSpPr/>
          <p:nvPr/>
        </p:nvSpPr>
        <p:spPr>
          <a:xfrm>
            <a:off x="6025896" y="2185416"/>
            <a:ext cx="1115568" cy="210312"/>
          </a:xfrm>
          <a:prstGeom prst="rect">
            <a:avLst/>
          </a:prstGeom>
          <a:noFill/>
          <a:ln/>
        </p:spPr>
        <p:txBody>
          <a:bodyPr wrap="square" rtlCol="0" anchor="ctr"/>
          <a:lstStyle/>
          <a:p>
            <a:pPr algn="ctr" indent="0" marL="0">
              <a:buNone/>
            </a:pPr>
            <a:r>
              <a:rPr lang="en-US" sz="1350" b="1" dirty="0">
                <a:solidFill>
                  <a:srgbClr val="394052"/>
                </a:solidFill>
              </a:rPr>
              <a:t>Normalize</a:t>
            </a:r>
            <a:endParaRPr lang="en-US" sz="1350" dirty="0"/>
          </a:p>
        </p:txBody>
      </p:sp>
      <p:sp>
        <p:nvSpPr>
          <p:cNvPr id="21" name="Text 19"/>
          <p:cNvSpPr/>
          <p:nvPr/>
        </p:nvSpPr>
        <p:spPr>
          <a:xfrm>
            <a:off x="6025896" y="2450592"/>
            <a:ext cx="1115568" cy="228600"/>
          </a:xfrm>
          <a:prstGeom prst="rect">
            <a:avLst/>
          </a:prstGeom>
          <a:noFill/>
          <a:ln/>
        </p:spPr>
        <p:txBody>
          <a:bodyPr wrap="square" rtlCol="0" anchor="ctr">
            <a:normAutofit/>
          </a:bodyPr>
          <a:lstStyle/>
          <a:p>
            <a:pPr algn="ctr" indent="0" marL="0">
              <a:buNone/>
            </a:pPr>
            <a:r>
              <a:rPr lang="en-US" sz="850" dirty="0">
                <a:solidFill>
                  <a:srgbClr val="5B6273"/>
                </a:solidFill>
              </a:rPr>
              <a:t>Clean and tag content</a:t>
            </a:r>
            <a:endParaRPr lang="en-US" sz="850" dirty="0"/>
          </a:p>
        </p:txBody>
      </p:sp>
      <p:sp>
        <p:nvSpPr>
          <p:cNvPr id="22" name="Shape 20"/>
          <p:cNvSpPr/>
          <p:nvPr/>
        </p:nvSpPr>
        <p:spPr>
          <a:xfrm>
            <a:off x="7296912" y="2295144"/>
            <a:ext cx="292608" cy="256032"/>
          </a:xfrm>
          <a:prstGeom prst="rightArrow">
            <a:avLst/>
          </a:prstGeom>
          <a:solidFill>
            <a:srgbClr val="00A6CE"/>
          </a:solidFill>
          <a:ln w="12700">
            <a:solidFill>
              <a:srgbClr val="00A6CE"/>
            </a:solidFill>
            <a:prstDash val="solid"/>
          </a:ln>
        </p:spPr>
      </p:sp>
      <p:sp>
        <p:nvSpPr>
          <p:cNvPr id="23" name="Shape 21"/>
          <p:cNvSpPr/>
          <p:nvPr/>
        </p:nvSpPr>
        <p:spPr>
          <a:xfrm>
            <a:off x="7717536" y="2057400"/>
            <a:ext cx="1261872" cy="713232"/>
          </a:xfrm>
          <a:prstGeom prst="roundRect">
            <a:avLst>
              <a:gd name="adj" fmla="val 10256"/>
            </a:avLst>
          </a:prstGeom>
          <a:solidFill>
            <a:srgbClr val="FFFFFF"/>
          </a:solidFill>
          <a:ln w="15240">
            <a:solidFill>
              <a:srgbClr val="DDE2EC"/>
            </a:solidFill>
            <a:prstDash val="solid"/>
          </a:ln>
        </p:spPr>
      </p:sp>
      <p:sp>
        <p:nvSpPr>
          <p:cNvPr id="24" name="Text 22"/>
          <p:cNvSpPr/>
          <p:nvPr/>
        </p:nvSpPr>
        <p:spPr>
          <a:xfrm>
            <a:off x="7790688" y="2185416"/>
            <a:ext cx="1115568" cy="210312"/>
          </a:xfrm>
          <a:prstGeom prst="rect">
            <a:avLst/>
          </a:prstGeom>
          <a:noFill/>
          <a:ln/>
        </p:spPr>
        <p:txBody>
          <a:bodyPr wrap="square" rtlCol="0" anchor="ctr"/>
          <a:lstStyle/>
          <a:p>
            <a:pPr algn="ctr" indent="0" marL="0">
              <a:buNone/>
            </a:pPr>
            <a:r>
              <a:rPr lang="en-US" sz="1350" b="1" dirty="0">
                <a:solidFill>
                  <a:srgbClr val="394052"/>
                </a:solidFill>
              </a:rPr>
              <a:t>Embed</a:t>
            </a:r>
            <a:endParaRPr lang="en-US" sz="1350" dirty="0"/>
          </a:p>
        </p:txBody>
      </p:sp>
      <p:sp>
        <p:nvSpPr>
          <p:cNvPr id="25" name="Text 23"/>
          <p:cNvSpPr/>
          <p:nvPr/>
        </p:nvSpPr>
        <p:spPr>
          <a:xfrm>
            <a:off x="7790688" y="2450592"/>
            <a:ext cx="1115568" cy="228600"/>
          </a:xfrm>
          <a:prstGeom prst="rect">
            <a:avLst/>
          </a:prstGeom>
          <a:noFill/>
          <a:ln/>
        </p:spPr>
        <p:txBody>
          <a:bodyPr wrap="square" rtlCol="0" anchor="ctr">
            <a:normAutofit/>
          </a:bodyPr>
          <a:lstStyle/>
          <a:p>
            <a:pPr algn="ctr" indent="0" marL="0">
              <a:buNone/>
            </a:pPr>
            <a:r>
              <a:rPr lang="en-US" sz="850" dirty="0">
                <a:solidFill>
                  <a:srgbClr val="5B6273"/>
                </a:solidFill>
              </a:rPr>
              <a:t>Create vector records</a:t>
            </a:r>
            <a:endParaRPr lang="en-US" sz="850" dirty="0"/>
          </a:p>
        </p:txBody>
      </p:sp>
      <p:sp>
        <p:nvSpPr>
          <p:cNvPr id="26" name="Shape 24"/>
          <p:cNvSpPr/>
          <p:nvPr/>
        </p:nvSpPr>
        <p:spPr>
          <a:xfrm>
            <a:off x="9061704" y="2295144"/>
            <a:ext cx="292608" cy="256032"/>
          </a:xfrm>
          <a:prstGeom prst="rightArrow">
            <a:avLst/>
          </a:prstGeom>
          <a:solidFill>
            <a:srgbClr val="00A6CE"/>
          </a:solidFill>
          <a:ln w="12700">
            <a:solidFill>
              <a:srgbClr val="00A6CE"/>
            </a:solidFill>
            <a:prstDash val="solid"/>
          </a:ln>
        </p:spPr>
      </p:sp>
      <p:sp>
        <p:nvSpPr>
          <p:cNvPr id="27" name="Shape 25"/>
          <p:cNvSpPr/>
          <p:nvPr/>
        </p:nvSpPr>
        <p:spPr>
          <a:xfrm>
            <a:off x="9482328" y="2057400"/>
            <a:ext cx="1261872" cy="713232"/>
          </a:xfrm>
          <a:prstGeom prst="roundRect">
            <a:avLst>
              <a:gd name="adj" fmla="val 10256"/>
            </a:avLst>
          </a:prstGeom>
          <a:solidFill>
            <a:srgbClr val="FFFFFF"/>
          </a:solidFill>
          <a:ln w="15240">
            <a:solidFill>
              <a:srgbClr val="DDE2EC"/>
            </a:solidFill>
            <a:prstDash val="solid"/>
          </a:ln>
        </p:spPr>
      </p:sp>
      <p:sp>
        <p:nvSpPr>
          <p:cNvPr id="28" name="Text 26"/>
          <p:cNvSpPr/>
          <p:nvPr/>
        </p:nvSpPr>
        <p:spPr>
          <a:xfrm>
            <a:off x="9555480" y="2185416"/>
            <a:ext cx="1115568" cy="210312"/>
          </a:xfrm>
          <a:prstGeom prst="rect">
            <a:avLst/>
          </a:prstGeom>
          <a:noFill/>
          <a:ln/>
        </p:spPr>
        <p:txBody>
          <a:bodyPr wrap="square" rtlCol="0" anchor="ctr"/>
          <a:lstStyle/>
          <a:p>
            <a:pPr algn="ctr" indent="0" marL="0">
              <a:buNone/>
            </a:pPr>
            <a:r>
              <a:rPr lang="en-US" sz="1350" b="1" dirty="0">
                <a:solidFill>
                  <a:srgbClr val="394052"/>
                </a:solidFill>
              </a:rPr>
              <a:t>Ground</a:t>
            </a:r>
            <a:endParaRPr lang="en-US" sz="1350" dirty="0"/>
          </a:p>
        </p:txBody>
      </p:sp>
      <p:sp>
        <p:nvSpPr>
          <p:cNvPr id="29" name="Text 27"/>
          <p:cNvSpPr/>
          <p:nvPr/>
        </p:nvSpPr>
        <p:spPr>
          <a:xfrm>
            <a:off x="9555480" y="2450592"/>
            <a:ext cx="1115568" cy="228600"/>
          </a:xfrm>
          <a:prstGeom prst="rect">
            <a:avLst/>
          </a:prstGeom>
          <a:noFill/>
          <a:ln/>
        </p:spPr>
        <p:txBody>
          <a:bodyPr wrap="square" rtlCol="0" anchor="ctr">
            <a:normAutofit/>
          </a:bodyPr>
          <a:lstStyle/>
          <a:p>
            <a:pPr algn="ctr" indent="0" marL="0">
              <a:buNone/>
            </a:pPr>
            <a:r>
              <a:rPr lang="en-US" sz="850" dirty="0">
                <a:solidFill>
                  <a:srgbClr val="5B6273"/>
                </a:solidFill>
              </a:rPr>
              <a:t>Answer with sources</a:t>
            </a:r>
            <a:endParaRPr lang="en-US" sz="850" dirty="0"/>
          </a:p>
        </p:txBody>
      </p:sp>
      <p:sp>
        <p:nvSpPr>
          <p:cNvPr id="30" name="Text 28"/>
          <p:cNvSpPr/>
          <p:nvPr/>
        </p:nvSpPr>
        <p:spPr>
          <a:xfrm>
            <a:off x="868680" y="367588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31" name="Text 29"/>
          <p:cNvSpPr/>
          <p:nvPr/>
        </p:nvSpPr>
        <p:spPr>
          <a:xfrm>
            <a:off x="1280160" y="365760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IronPDF is not the LLM</a:t>
            </a:r>
            <a:endParaRPr lang="en-US" sz="2000" dirty="0"/>
          </a:p>
        </p:txBody>
      </p:sp>
      <p:sp>
        <p:nvSpPr>
          <p:cNvPr id="32" name="Text 30"/>
          <p:cNvSpPr/>
          <p:nvPr/>
        </p:nvSpPr>
        <p:spPr>
          <a:xfrm>
            <a:off x="1527048" y="4050792"/>
            <a:ext cx="9966960" cy="566928"/>
          </a:xfrm>
          <a:prstGeom prst="rect">
            <a:avLst/>
          </a:prstGeom>
          <a:noFill/>
          <a:ln/>
        </p:spPr>
        <p:txBody>
          <a:bodyPr wrap="square" rtlCol="0" anchor="ctr">
            <a:normAutofit/>
          </a:bodyPr>
          <a:lstStyle/>
          <a:p>
            <a:pPr indent="0" marL="0">
              <a:buNone/>
            </a:pPr>
            <a:r>
              <a:rPr lang="en-US" sz="1700" dirty="0">
                <a:solidFill>
                  <a:srgbClr val="394052"/>
                </a:solidFill>
              </a:rPr>
              <a:t>It does deterministic document work: PDF generation, reading, editing, conversion, extraction, forms, signing, stamping, merging, and splitting.</a:t>
            </a:r>
            <a:endParaRPr lang="en-US" sz="1700" dirty="0"/>
          </a:p>
        </p:txBody>
      </p:sp>
      <p:sp>
        <p:nvSpPr>
          <p:cNvPr id="33" name="Text 31"/>
          <p:cNvSpPr/>
          <p:nvPr/>
        </p:nvSpPr>
        <p:spPr>
          <a:xfrm>
            <a:off x="868680" y="4663440"/>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34" name="Text 32"/>
          <p:cNvSpPr/>
          <p:nvPr/>
        </p:nvSpPr>
        <p:spPr>
          <a:xfrm>
            <a:off x="1280160" y="4645152"/>
            <a:ext cx="10424160" cy="310896"/>
          </a:xfrm>
          <a:prstGeom prst="rect">
            <a:avLst/>
          </a:prstGeom>
          <a:noFill/>
          <a:ln/>
        </p:spPr>
        <p:txBody>
          <a:bodyPr wrap="square" rtlCol="0" anchor="ctr">
            <a:normAutofit/>
          </a:bodyPr>
          <a:lstStyle/>
          <a:p>
            <a:pPr indent="0" marL="0">
              <a:buNone/>
            </a:pPr>
            <a:r>
              <a:rPr lang="en-US" sz="2000" b="1" dirty="0">
                <a:solidFill>
                  <a:srgbClr val="394052"/>
                </a:solidFill>
              </a:rPr>
              <a:t>Semantic Kernel orchestrates the AI interaction</a:t>
            </a:r>
            <a:endParaRPr lang="en-US" sz="2000" dirty="0"/>
          </a:p>
        </p:txBody>
      </p:sp>
      <p:sp>
        <p:nvSpPr>
          <p:cNvPr id="35" name="Text 33"/>
          <p:cNvSpPr/>
          <p:nvPr/>
        </p:nvSpPr>
        <p:spPr>
          <a:xfrm>
            <a:off x="1527048" y="5038344"/>
            <a:ext cx="9966960" cy="566928"/>
          </a:xfrm>
          <a:prstGeom prst="rect">
            <a:avLst/>
          </a:prstGeom>
          <a:noFill/>
          <a:ln/>
        </p:spPr>
        <p:txBody>
          <a:bodyPr wrap="square" rtlCol="0" anchor="ctr">
            <a:normAutofit/>
          </a:bodyPr>
          <a:lstStyle/>
          <a:p>
            <a:pPr indent="0" marL="0">
              <a:buNone/>
            </a:pPr>
            <a:r>
              <a:rPr lang="en-US" sz="1700" dirty="0">
                <a:solidFill>
                  <a:srgbClr val="394052"/>
                </a:solidFill>
              </a:rPr>
              <a:t>After document text is prepared, SK can pass retrieved context into Azure OpenAI for grounded summaries and answers.</a:t>
            </a:r>
            <a:endParaRPr lang="en-US" sz="1700" dirty="0"/>
          </a:p>
        </p:txBody>
      </p:sp>
      <p:sp>
        <p:nvSpPr>
          <p:cNvPr id="37" name="Text 34"/>
          <p:cNvSpPr/>
          <p:nvPr/>
        </p:nvSpPr>
        <p:spPr>
          <a:xfrm>
            <a:off x="685800" y="6355080"/>
            <a:ext cx="10424160" cy="228600"/>
          </a:xfrm>
          <a:prstGeom prst="rect">
            <a:avLst/>
          </a:prstGeom>
          <a:noFill/>
          <a:ln/>
        </p:spPr>
        <p:txBody>
          <a:bodyPr wrap="square" rtlCol="0" anchor="ctr">
            <a:normAutofit/>
          </a:bodyPr>
          <a:lstStyle/>
          <a:p>
            <a:pPr indent="0" marL="0">
              <a:buNone/>
            </a:pPr>
            <a:r>
              <a:rPr lang="en-US" sz="750" i="1" dirty="0">
                <a:solidFill>
                  <a:srgbClr val="7A8090"/>
                </a:solidFill>
              </a:rPr>
              <a:t>IronPDF docs and NuGet describe PDF creation, conversion, extraction, editing, forms, merge/split, stamping, and signing.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sp>
      <p:sp>
        <p:nvSpPr>
          <p:cNvPr id="4" name="Text 2"/>
          <p:cNvSpPr/>
          <p:nvPr/>
        </p:nvSpPr>
        <p:spPr>
          <a:xfrm>
            <a:off x="11841480" y="6510528"/>
            <a:ext cx="201168" cy="182880"/>
          </a:xfrm>
          <a:prstGeom prst="rect">
            <a:avLst/>
          </a:prstGeom>
          <a:noFill/>
          <a:ln/>
        </p:spPr>
        <p:txBody>
          <a:bodyPr wrap="square" rtlCol="0" anchor="ctr"/>
          <a:lstStyle/>
          <a:p>
            <a:pPr algn="r" indent="0" marL="0">
              <a:buNone/>
            </a:pPr>
            <a:r>
              <a:rPr lang="en-US" sz="1400" dirty="0">
                <a:solidFill>
                  <a:srgbClr val="FFFFFF"/>
                </a:solidFill>
                <a:latin typeface="Arial" pitchFamily="34" charset="0"/>
                <a:ea typeface="Arial" pitchFamily="34" charset="-122"/>
                <a:cs typeface="Arial" pitchFamily="34" charset="-120"/>
              </a:rPr>
              <a:t>5</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indent="0" marL="0">
              <a:buNone/>
            </a:pPr>
            <a:r>
              <a:rPr lang="en-US" sz="3400" dirty="0">
                <a:solidFill>
                  <a:srgbClr val="007DB3"/>
                </a:solidFill>
                <a:latin typeface="Arial" pitchFamily="34" charset="0"/>
                <a:ea typeface="Arial" pitchFamily="34" charset="-122"/>
                <a:cs typeface="Arial" pitchFamily="34" charset="-120"/>
              </a:rPr>
              <a:t>Why IronPDF Is a Strong Fit for This Portal</a:t>
            </a:r>
            <a:endParaRPr lang="en-US" sz="3400" dirty="0"/>
          </a:p>
        </p:txBody>
      </p:sp>
      <p:sp>
        <p:nvSpPr>
          <p:cNvPr id="6" name="Text 4"/>
          <p:cNvSpPr/>
          <p:nvPr/>
        </p:nvSpPr>
        <p:spPr>
          <a:xfrm>
            <a:off x="731520" y="143560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7" name="Text 5"/>
          <p:cNvSpPr/>
          <p:nvPr/>
        </p:nvSpPr>
        <p:spPr>
          <a:xfrm>
            <a:off x="1143000" y="141732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Native .NET integration</a:t>
            </a:r>
            <a:endParaRPr lang="en-US" sz="2000" dirty="0"/>
          </a:p>
        </p:txBody>
      </p:sp>
      <p:sp>
        <p:nvSpPr>
          <p:cNvPr id="8" name="Text 6"/>
          <p:cNvSpPr/>
          <p:nvPr/>
        </p:nvSpPr>
        <p:spPr>
          <a:xfrm>
            <a:off x="1389888" y="1810512"/>
            <a:ext cx="9966960" cy="566928"/>
          </a:xfrm>
          <a:prstGeom prst="rect">
            <a:avLst/>
          </a:prstGeom>
          <a:noFill/>
          <a:ln/>
        </p:spPr>
        <p:txBody>
          <a:bodyPr wrap="square" rtlCol="0" anchor="ctr">
            <a:normAutofit/>
          </a:bodyPr>
          <a:lstStyle/>
          <a:p>
            <a:pPr indent="0" marL="0">
              <a:buNone/>
            </a:pPr>
            <a:r>
              <a:rPr lang="en-US" sz="1700" dirty="0">
                <a:solidFill>
                  <a:srgbClr val="394052"/>
                </a:solidFill>
              </a:rPr>
              <a:t>Distributed as a NuGet package and documented for C#/.NET application models such as console, web, MVC, Blazor, MAUI, and Razor Pages.</a:t>
            </a:r>
            <a:endParaRPr lang="en-US" sz="1700" dirty="0"/>
          </a:p>
        </p:txBody>
      </p:sp>
      <p:sp>
        <p:nvSpPr>
          <p:cNvPr id="9" name="Text 7"/>
          <p:cNvSpPr/>
          <p:nvPr/>
        </p:nvSpPr>
        <p:spPr>
          <a:xfrm>
            <a:off x="731520" y="262432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0" name="Text 8"/>
          <p:cNvSpPr/>
          <p:nvPr/>
        </p:nvSpPr>
        <p:spPr>
          <a:xfrm>
            <a:off x="1143000" y="260604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Modern platform coverage</a:t>
            </a:r>
            <a:endParaRPr lang="en-US" sz="2000" dirty="0"/>
          </a:p>
        </p:txBody>
      </p:sp>
      <p:sp>
        <p:nvSpPr>
          <p:cNvPr id="11" name="Text 9"/>
          <p:cNvSpPr/>
          <p:nvPr/>
        </p:nvSpPr>
        <p:spPr>
          <a:xfrm>
            <a:off x="1389888" y="2999232"/>
            <a:ext cx="9966960" cy="566928"/>
          </a:xfrm>
          <a:prstGeom prst="rect">
            <a:avLst/>
          </a:prstGeom>
          <a:noFill/>
          <a:ln/>
        </p:spPr>
        <p:txBody>
          <a:bodyPr wrap="square" rtlCol="0" anchor="ctr">
            <a:normAutofit/>
          </a:bodyPr>
          <a:lstStyle/>
          <a:p>
            <a:pPr indent="0" marL="0">
              <a:buNone/>
            </a:pPr>
            <a:r>
              <a:rPr lang="en-US" sz="1700" dirty="0">
                <a:solidFill>
                  <a:srgbClr val="394052"/>
                </a:solidFill>
              </a:rPr>
              <a:t>Official material lists support across .NET 10, .NET 9, .NET 8 LTS, Windows, Linux, macOS, Docker, Azure, AWS, and cloud/container environments.</a:t>
            </a:r>
            <a:endParaRPr lang="en-US" sz="1700" dirty="0"/>
          </a:p>
        </p:txBody>
      </p:sp>
      <p:sp>
        <p:nvSpPr>
          <p:cNvPr id="12" name="Text 10"/>
          <p:cNvSpPr/>
          <p:nvPr/>
        </p:nvSpPr>
        <p:spPr>
          <a:xfrm>
            <a:off x="731520" y="381304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3" name="Text 11"/>
          <p:cNvSpPr/>
          <p:nvPr/>
        </p:nvSpPr>
        <p:spPr>
          <a:xfrm>
            <a:off x="1143000" y="379476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PDF operations beyond extraction</a:t>
            </a:r>
            <a:endParaRPr lang="en-US" sz="2000" dirty="0"/>
          </a:p>
        </p:txBody>
      </p:sp>
      <p:sp>
        <p:nvSpPr>
          <p:cNvPr id="14" name="Text 12"/>
          <p:cNvSpPr/>
          <p:nvPr/>
        </p:nvSpPr>
        <p:spPr>
          <a:xfrm>
            <a:off x="1389888" y="4187952"/>
            <a:ext cx="9966960" cy="566928"/>
          </a:xfrm>
          <a:prstGeom prst="rect">
            <a:avLst/>
          </a:prstGeom>
          <a:noFill/>
          <a:ln/>
        </p:spPr>
        <p:txBody>
          <a:bodyPr wrap="square" rtlCol="0" anchor="ctr">
            <a:normAutofit/>
          </a:bodyPr>
          <a:lstStyle/>
          <a:p>
            <a:pPr indent="0" marL="0">
              <a:buNone/>
            </a:pPr>
            <a:r>
              <a:rPr lang="en-US" sz="1700" dirty="0">
                <a:solidFill>
                  <a:srgbClr val="394052"/>
                </a:solidFill>
              </a:rPr>
              <a:t>The same library family supports PDF creation, reading, editing, conversion, image rendering, forms, merging, splitting, compression, security, and signing scenarios.</a:t>
            </a:r>
            <a:endParaRPr lang="en-US" sz="1700" dirty="0"/>
          </a:p>
        </p:txBody>
      </p:sp>
      <p:sp>
        <p:nvSpPr>
          <p:cNvPr id="15" name="Text 13"/>
          <p:cNvSpPr/>
          <p:nvPr/>
        </p:nvSpPr>
        <p:spPr>
          <a:xfrm>
            <a:off x="731520" y="500176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6" name="Text 14"/>
          <p:cNvSpPr/>
          <p:nvPr/>
        </p:nvSpPr>
        <p:spPr>
          <a:xfrm>
            <a:off x="1143000" y="498348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Commercial support posture</a:t>
            </a:r>
            <a:endParaRPr lang="en-US" sz="2000" dirty="0"/>
          </a:p>
        </p:txBody>
      </p:sp>
      <p:sp>
        <p:nvSpPr>
          <p:cNvPr id="17" name="Text 15"/>
          <p:cNvSpPr/>
          <p:nvPr/>
        </p:nvSpPr>
        <p:spPr>
          <a:xfrm>
            <a:off x="1389888" y="5376672"/>
            <a:ext cx="9966960" cy="566928"/>
          </a:xfrm>
          <a:prstGeom prst="rect">
            <a:avLst/>
          </a:prstGeom>
          <a:noFill/>
          <a:ln/>
        </p:spPr>
        <p:txBody>
          <a:bodyPr wrap="square" rtlCol="0" anchor="ctr">
            <a:normAutofit/>
          </a:bodyPr>
          <a:lstStyle/>
          <a:p>
            <a:pPr indent="0" marL="0">
              <a:buNone/>
            </a:pPr>
            <a:r>
              <a:rPr lang="en-US" sz="1700" dirty="0">
                <a:solidFill>
                  <a:srgbClr val="394052"/>
                </a:solidFill>
              </a:rPr>
              <a:t>Iron Software positions the suite as a commercial option with documentation, trial evaluation, and engineer support rather than a do-it-yourself wrapper strategy.</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sp>
      <p:sp>
        <p:nvSpPr>
          <p:cNvPr id="4" name="Text 2"/>
          <p:cNvSpPr/>
          <p:nvPr/>
        </p:nvSpPr>
        <p:spPr>
          <a:xfrm>
            <a:off x="11841480" y="6510528"/>
            <a:ext cx="201168" cy="182880"/>
          </a:xfrm>
          <a:prstGeom prst="rect">
            <a:avLst/>
          </a:prstGeom>
          <a:noFill/>
          <a:ln/>
        </p:spPr>
        <p:txBody>
          <a:bodyPr wrap="square" rtlCol="0" anchor="ctr"/>
          <a:lstStyle/>
          <a:p>
            <a:pPr algn="r" indent="0" marL="0">
              <a:buNone/>
            </a:pPr>
            <a:r>
              <a:rPr lang="en-US" sz="1400" dirty="0">
                <a:solidFill>
                  <a:srgbClr val="FFFFFF"/>
                </a:solidFill>
                <a:latin typeface="Arial" pitchFamily="34" charset="0"/>
                <a:ea typeface="Arial" pitchFamily="34" charset="-122"/>
                <a:cs typeface="Arial" pitchFamily="34" charset="-120"/>
              </a:rPr>
              <a:t>6</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indent="0" marL="0">
              <a:buNone/>
            </a:pPr>
            <a:r>
              <a:rPr lang="en-US" sz="3400" dirty="0">
                <a:solidFill>
                  <a:srgbClr val="007DB3"/>
                </a:solidFill>
                <a:latin typeface="Arial" pitchFamily="34" charset="0"/>
                <a:ea typeface="Arial" pitchFamily="34" charset="-122"/>
                <a:cs typeface="Arial" pitchFamily="34" charset="-120"/>
              </a:rPr>
              <a:t>IronSuite Broadens the Document Story</a:t>
            </a:r>
            <a:endParaRPr lang="en-US" sz="3400" dirty="0"/>
          </a:p>
        </p:txBody>
      </p:sp>
      <p:sp>
        <p:nvSpPr>
          <p:cNvPr id="6" name="Text 4"/>
          <p:cNvSpPr/>
          <p:nvPr/>
        </p:nvSpPr>
        <p:spPr>
          <a:xfrm>
            <a:off x="713232" y="1298448"/>
            <a:ext cx="10607040" cy="320040"/>
          </a:xfrm>
          <a:prstGeom prst="rect">
            <a:avLst/>
          </a:prstGeom>
          <a:noFill/>
          <a:ln/>
        </p:spPr>
        <p:txBody>
          <a:bodyPr wrap="square" rtlCol="0" anchor="ctr">
            <a:normAutofit/>
          </a:bodyPr>
          <a:lstStyle/>
          <a:p>
            <a:pPr indent="0" marL="0">
              <a:buNone/>
            </a:pPr>
            <a:r>
              <a:rPr lang="en-US" sz="1700" dirty="0">
                <a:solidFill>
                  <a:srgbClr val="5B6273"/>
                </a:solidFill>
              </a:rPr>
              <a:t>IronSuite is a commercial .NET library bundle; each library is installed independently as needed.</a:t>
            </a:r>
            <a:endParaRPr lang="en-US" sz="1700" dirty="0"/>
          </a:p>
        </p:txBody>
      </p:sp>
      <p:sp>
        <p:nvSpPr>
          <p:cNvPr id="7" name="Text 5"/>
          <p:cNvSpPr/>
          <p:nvPr/>
        </p:nvSpPr>
        <p:spPr>
          <a:xfrm>
            <a:off x="868680" y="1965960"/>
            <a:ext cx="182880" cy="182880"/>
          </a:xfrm>
          <a:prstGeom prst="rect">
            <a:avLst/>
          </a:prstGeom>
          <a:noFill/>
          <a:ln/>
        </p:spPr>
        <p:txBody>
          <a:bodyPr wrap="square" rtlCol="0" anchor="ctr"/>
          <a:lstStyle/>
          <a:p>
            <a:pPr indent="0" marL="0">
              <a:buNone/>
            </a:pPr>
            <a:r>
              <a:rPr lang="en-US" sz="1400" b="1" dirty="0">
                <a:solidFill>
                  <a:srgbClr val="00A6CE"/>
                </a:solidFill>
              </a:rPr>
              <a:t>▸</a:t>
            </a:r>
            <a:endParaRPr lang="en-US" sz="1400" dirty="0"/>
          </a:p>
        </p:txBody>
      </p:sp>
      <p:sp>
        <p:nvSpPr>
          <p:cNvPr id="8" name="Text 6"/>
          <p:cNvSpPr/>
          <p:nvPr/>
        </p:nvSpPr>
        <p:spPr>
          <a:xfrm>
            <a:off x="1124712" y="1938528"/>
            <a:ext cx="1188720" cy="201168"/>
          </a:xfrm>
          <a:prstGeom prst="rect">
            <a:avLst/>
          </a:prstGeom>
          <a:noFill/>
          <a:ln/>
        </p:spPr>
        <p:txBody>
          <a:bodyPr wrap="square" rtlCol="0" anchor="ctr">
            <a:normAutofit/>
          </a:bodyPr>
          <a:lstStyle/>
          <a:p>
            <a:pPr indent="0" marL="0">
              <a:buNone/>
            </a:pPr>
            <a:r>
              <a:rPr lang="en-US" sz="1350" b="1" dirty="0">
                <a:solidFill>
                  <a:srgbClr val="394052"/>
                </a:solidFill>
              </a:rPr>
              <a:t>IronPDF</a:t>
            </a:r>
            <a:endParaRPr lang="en-US" sz="1350" dirty="0"/>
          </a:p>
        </p:txBody>
      </p:sp>
      <p:sp>
        <p:nvSpPr>
          <p:cNvPr id="9" name="Text 7"/>
          <p:cNvSpPr/>
          <p:nvPr/>
        </p:nvSpPr>
        <p:spPr>
          <a:xfrm>
            <a:off x="1124712" y="2194560"/>
            <a:ext cx="1417320" cy="201168"/>
          </a:xfrm>
          <a:prstGeom prst="rect">
            <a:avLst/>
          </a:prstGeom>
          <a:noFill/>
          <a:ln/>
        </p:spPr>
        <p:txBody>
          <a:bodyPr wrap="square" rtlCol="0" anchor="ctr">
            <a:normAutofit/>
          </a:bodyPr>
          <a:lstStyle/>
          <a:p>
            <a:pPr indent="0" marL="0">
              <a:buNone/>
            </a:pPr>
            <a:r>
              <a:rPr lang="en-US" sz="960" dirty="0">
                <a:solidFill>
                  <a:srgbClr val="5B6273"/>
                </a:solidFill>
              </a:rPr>
              <a:t>PDF create/read/edit</a:t>
            </a:r>
            <a:endParaRPr lang="en-US" sz="960" dirty="0"/>
          </a:p>
        </p:txBody>
      </p:sp>
      <p:sp>
        <p:nvSpPr>
          <p:cNvPr id="10" name="Text 8"/>
          <p:cNvSpPr/>
          <p:nvPr/>
        </p:nvSpPr>
        <p:spPr>
          <a:xfrm>
            <a:off x="3017520" y="1965960"/>
            <a:ext cx="182880" cy="182880"/>
          </a:xfrm>
          <a:prstGeom prst="rect">
            <a:avLst/>
          </a:prstGeom>
          <a:noFill/>
          <a:ln/>
        </p:spPr>
        <p:txBody>
          <a:bodyPr wrap="square" rtlCol="0" anchor="ctr"/>
          <a:lstStyle/>
          <a:p>
            <a:pPr indent="0" marL="0">
              <a:buNone/>
            </a:pPr>
            <a:r>
              <a:rPr lang="en-US" sz="1400" b="1" dirty="0">
                <a:solidFill>
                  <a:srgbClr val="00A6CE"/>
                </a:solidFill>
              </a:rPr>
              <a:t>▸</a:t>
            </a:r>
            <a:endParaRPr lang="en-US" sz="1400" dirty="0"/>
          </a:p>
        </p:txBody>
      </p:sp>
      <p:sp>
        <p:nvSpPr>
          <p:cNvPr id="11" name="Text 9"/>
          <p:cNvSpPr/>
          <p:nvPr/>
        </p:nvSpPr>
        <p:spPr>
          <a:xfrm>
            <a:off x="3273552" y="1938528"/>
            <a:ext cx="1188720" cy="201168"/>
          </a:xfrm>
          <a:prstGeom prst="rect">
            <a:avLst/>
          </a:prstGeom>
          <a:noFill/>
          <a:ln/>
        </p:spPr>
        <p:txBody>
          <a:bodyPr wrap="square" rtlCol="0" anchor="ctr">
            <a:normAutofit/>
          </a:bodyPr>
          <a:lstStyle/>
          <a:p>
            <a:pPr indent="0" marL="0">
              <a:buNone/>
            </a:pPr>
            <a:r>
              <a:rPr lang="en-US" sz="1350" b="1" dirty="0">
                <a:solidFill>
                  <a:srgbClr val="394052"/>
                </a:solidFill>
              </a:rPr>
              <a:t>IronOCR</a:t>
            </a:r>
            <a:endParaRPr lang="en-US" sz="1350" dirty="0"/>
          </a:p>
        </p:txBody>
      </p:sp>
      <p:sp>
        <p:nvSpPr>
          <p:cNvPr id="12" name="Text 10"/>
          <p:cNvSpPr/>
          <p:nvPr/>
        </p:nvSpPr>
        <p:spPr>
          <a:xfrm>
            <a:off x="3273552" y="2194560"/>
            <a:ext cx="1417320" cy="201168"/>
          </a:xfrm>
          <a:prstGeom prst="rect">
            <a:avLst/>
          </a:prstGeom>
          <a:noFill/>
          <a:ln/>
        </p:spPr>
        <p:txBody>
          <a:bodyPr wrap="square" rtlCol="0" anchor="ctr">
            <a:normAutofit/>
          </a:bodyPr>
          <a:lstStyle/>
          <a:p>
            <a:pPr indent="0" marL="0">
              <a:buNone/>
            </a:pPr>
            <a:r>
              <a:rPr lang="en-US" sz="960" dirty="0">
                <a:solidFill>
                  <a:srgbClr val="5B6273"/>
                </a:solidFill>
              </a:rPr>
              <a:t>OCR from scans/images</a:t>
            </a:r>
            <a:endParaRPr lang="en-US" sz="960" dirty="0"/>
          </a:p>
        </p:txBody>
      </p:sp>
      <p:sp>
        <p:nvSpPr>
          <p:cNvPr id="13" name="Text 11"/>
          <p:cNvSpPr/>
          <p:nvPr/>
        </p:nvSpPr>
        <p:spPr>
          <a:xfrm>
            <a:off x="5166360" y="1965960"/>
            <a:ext cx="182880" cy="182880"/>
          </a:xfrm>
          <a:prstGeom prst="rect">
            <a:avLst/>
          </a:prstGeom>
          <a:noFill/>
          <a:ln/>
        </p:spPr>
        <p:txBody>
          <a:bodyPr wrap="square" rtlCol="0" anchor="ctr"/>
          <a:lstStyle/>
          <a:p>
            <a:pPr indent="0" marL="0">
              <a:buNone/>
            </a:pPr>
            <a:r>
              <a:rPr lang="en-US" sz="1400" b="1" dirty="0">
                <a:solidFill>
                  <a:srgbClr val="00A6CE"/>
                </a:solidFill>
              </a:rPr>
              <a:t>▸</a:t>
            </a:r>
            <a:endParaRPr lang="en-US" sz="1400" dirty="0"/>
          </a:p>
        </p:txBody>
      </p:sp>
      <p:sp>
        <p:nvSpPr>
          <p:cNvPr id="14" name="Text 12"/>
          <p:cNvSpPr/>
          <p:nvPr/>
        </p:nvSpPr>
        <p:spPr>
          <a:xfrm>
            <a:off x="5422392" y="1938528"/>
            <a:ext cx="1188720" cy="201168"/>
          </a:xfrm>
          <a:prstGeom prst="rect">
            <a:avLst/>
          </a:prstGeom>
          <a:noFill/>
          <a:ln/>
        </p:spPr>
        <p:txBody>
          <a:bodyPr wrap="square" rtlCol="0" anchor="ctr">
            <a:normAutofit/>
          </a:bodyPr>
          <a:lstStyle/>
          <a:p>
            <a:pPr indent="0" marL="0">
              <a:buNone/>
            </a:pPr>
            <a:r>
              <a:rPr lang="en-US" sz="1350" b="1" dirty="0">
                <a:solidFill>
                  <a:srgbClr val="394052"/>
                </a:solidFill>
              </a:rPr>
              <a:t>IronXL</a:t>
            </a:r>
            <a:endParaRPr lang="en-US" sz="1350" dirty="0"/>
          </a:p>
        </p:txBody>
      </p:sp>
      <p:sp>
        <p:nvSpPr>
          <p:cNvPr id="15" name="Text 13"/>
          <p:cNvSpPr/>
          <p:nvPr/>
        </p:nvSpPr>
        <p:spPr>
          <a:xfrm>
            <a:off x="5422392" y="2194560"/>
            <a:ext cx="1417320" cy="201168"/>
          </a:xfrm>
          <a:prstGeom prst="rect">
            <a:avLst/>
          </a:prstGeom>
          <a:noFill/>
          <a:ln/>
        </p:spPr>
        <p:txBody>
          <a:bodyPr wrap="square" rtlCol="0" anchor="ctr">
            <a:normAutofit/>
          </a:bodyPr>
          <a:lstStyle/>
          <a:p>
            <a:pPr indent="0" marL="0">
              <a:buNone/>
            </a:pPr>
            <a:r>
              <a:rPr lang="en-US" sz="960" dirty="0">
                <a:solidFill>
                  <a:srgbClr val="5B6273"/>
                </a:solidFill>
              </a:rPr>
              <a:t>Excel/CSV files</a:t>
            </a:r>
            <a:endParaRPr lang="en-US" sz="960" dirty="0"/>
          </a:p>
        </p:txBody>
      </p:sp>
      <p:sp>
        <p:nvSpPr>
          <p:cNvPr id="16" name="Text 14"/>
          <p:cNvSpPr/>
          <p:nvPr/>
        </p:nvSpPr>
        <p:spPr>
          <a:xfrm>
            <a:off x="7315200" y="1965960"/>
            <a:ext cx="182880" cy="182880"/>
          </a:xfrm>
          <a:prstGeom prst="rect">
            <a:avLst/>
          </a:prstGeom>
          <a:noFill/>
          <a:ln/>
        </p:spPr>
        <p:txBody>
          <a:bodyPr wrap="square" rtlCol="0" anchor="ctr"/>
          <a:lstStyle/>
          <a:p>
            <a:pPr indent="0" marL="0">
              <a:buNone/>
            </a:pPr>
            <a:r>
              <a:rPr lang="en-US" sz="1400" b="1" dirty="0">
                <a:solidFill>
                  <a:srgbClr val="00A6CE"/>
                </a:solidFill>
              </a:rPr>
              <a:t>▸</a:t>
            </a:r>
            <a:endParaRPr lang="en-US" sz="1400" dirty="0"/>
          </a:p>
        </p:txBody>
      </p:sp>
      <p:sp>
        <p:nvSpPr>
          <p:cNvPr id="17" name="Text 15"/>
          <p:cNvSpPr/>
          <p:nvPr/>
        </p:nvSpPr>
        <p:spPr>
          <a:xfrm>
            <a:off x="7571232" y="1938528"/>
            <a:ext cx="1188720" cy="201168"/>
          </a:xfrm>
          <a:prstGeom prst="rect">
            <a:avLst/>
          </a:prstGeom>
          <a:noFill/>
          <a:ln/>
        </p:spPr>
        <p:txBody>
          <a:bodyPr wrap="square" rtlCol="0" anchor="ctr">
            <a:normAutofit/>
          </a:bodyPr>
          <a:lstStyle/>
          <a:p>
            <a:pPr indent="0" marL="0">
              <a:buNone/>
            </a:pPr>
            <a:r>
              <a:rPr lang="en-US" sz="1350" b="1" dirty="0">
                <a:solidFill>
                  <a:srgbClr val="394052"/>
                </a:solidFill>
              </a:rPr>
              <a:t>IronWord</a:t>
            </a:r>
            <a:endParaRPr lang="en-US" sz="1350" dirty="0"/>
          </a:p>
        </p:txBody>
      </p:sp>
      <p:sp>
        <p:nvSpPr>
          <p:cNvPr id="18" name="Text 16"/>
          <p:cNvSpPr/>
          <p:nvPr/>
        </p:nvSpPr>
        <p:spPr>
          <a:xfrm>
            <a:off x="7571232" y="2194560"/>
            <a:ext cx="1417320" cy="201168"/>
          </a:xfrm>
          <a:prstGeom prst="rect">
            <a:avLst/>
          </a:prstGeom>
          <a:noFill/>
          <a:ln/>
        </p:spPr>
        <p:txBody>
          <a:bodyPr wrap="square" rtlCol="0" anchor="ctr">
            <a:normAutofit/>
          </a:bodyPr>
          <a:lstStyle/>
          <a:p>
            <a:pPr indent="0" marL="0">
              <a:buNone/>
            </a:pPr>
            <a:r>
              <a:rPr lang="en-US" sz="960" dirty="0">
                <a:solidFill>
                  <a:srgbClr val="5B6273"/>
                </a:solidFill>
              </a:rPr>
              <a:t>DOCX files</a:t>
            </a:r>
            <a:endParaRPr lang="en-US" sz="960" dirty="0"/>
          </a:p>
        </p:txBody>
      </p:sp>
      <p:sp>
        <p:nvSpPr>
          <p:cNvPr id="19" name="Text 17"/>
          <p:cNvSpPr/>
          <p:nvPr/>
        </p:nvSpPr>
        <p:spPr>
          <a:xfrm>
            <a:off x="9464040" y="1965960"/>
            <a:ext cx="182880" cy="182880"/>
          </a:xfrm>
          <a:prstGeom prst="rect">
            <a:avLst/>
          </a:prstGeom>
          <a:noFill/>
          <a:ln/>
        </p:spPr>
        <p:txBody>
          <a:bodyPr wrap="square" rtlCol="0" anchor="ctr"/>
          <a:lstStyle/>
          <a:p>
            <a:pPr indent="0" marL="0">
              <a:buNone/>
            </a:pPr>
            <a:r>
              <a:rPr lang="en-US" sz="1400" b="1" dirty="0">
                <a:solidFill>
                  <a:srgbClr val="00A6CE"/>
                </a:solidFill>
              </a:rPr>
              <a:t>▸</a:t>
            </a:r>
            <a:endParaRPr lang="en-US" sz="1400" dirty="0"/>
          </a:p>
        </p:txBody>
      </p:sp>
      <p:sp>
        <p:nvSpPr>
          <p:cNvPr id="20" name="Text 18"/>
          <p:cNvSpPr/>
          <p:nvPr/>
        </p:nvSpPr>
        <p:spPr>
          <a:xfrm>
            <a:off x="9720072" y="1938528"/>
            <a:ext cx="1188720" cy="201168"/>
          </a:xfrm>
          <a:prstGeom prst="rect">
            <a:avLst/>
          </a:prstGeom>
          <a:noFill/>
          <a:ln/>
        </p:spPr>
        <p:txBody>
          <a:bodyPr wrap="square" rtlCol="0" anchor="ctr">
            <a:normAutofit/>
          </a:bodyPr>
          <a:lstStyle/>
          <a:p>
            <a:pPr indent="0" marL="0">
              <a:buNone/>
            </a:pPr>
            <a:r>
              <a:rPr lang="en-US" sz="1350" b="1" dirty="0">
                <a:solidFill>
                  <a:srgbClr val="394052"/>
                </a:solidFill>
              </a:rPr>
              <a:t>IronPPT</a:t>
            </a:r>
            <a:endParaRPr lang="en-US" sz="1350" dirty="0"/>
          </a:p>
        </p:txBody>
      </p:sp>
      <p:sp>
        <p:nvSpPr>
          <p:cNvPr id="21" name="Text 19"/>
          <p:cNvSpPr/>
          <p:nvPr/>
        </p:nvSpPr>
        <p:spPr>
          <a:xfrm>
            <a:off x="9720072" y="2194560"/>
            <a:ext cx="1417320" cy="201168"/>
          </a:xfrm>
          <a:prstGeom prst="rect">
            <a:avLst/>
          </a:prstGeom>
          <a:noFill/>
          <a:ln/>
        </p:spPr>
        <p:txBody>
          <a:bodyPr wrap="square" rtlCol="0" anchor="ctr">
            <a:normAutofit/>
          </a:bodyPr>
          <a:lstStyle/>
          <a:p>
            <a:pPr indent="0" marL="0">
              <a:buNone/>
            </a:pPr>
            <a:r>
              <a:rPr lang="en-US" sz="960" dirty="0">
                <a:solidFill>
                  <a:srgbClr val="5B6273"/>
                </a:solidFill>
              </a:rPr>
              <a:t>PowerPoint files</a:t>
            </a:r>
            <a:endParaRPr lang="en-US" sz="960" dirty="0"/>
          </a:p>
        </p:txBody>
      </p:sp>
      <p:sp>
        <p:nvSpPr>
          <p:cNvPr id="22" name="Text 20"/>
          <p:cNvSpPr/>
          <p:nvPr/>
        </p:nvSpPr>
        <p:spPr>
          <a:xfrm>
            <a:off x="868680" y="2724912"/>
            <a:ext cx="182880" cy="182880"/>
          </a:xfrm>
          <a:prstGeom prst="rect">
            <a:avLst/>
          </a:prstGeom>
          <a:noFill/>
          <a:ln/>
        </p:spPr>
        <p:txBody>
          <a:bodyPr wrap="square" rtlCol="0" anchor="ctr"/>
          <a:lstStyle/>
          <a:p>
            <a:pPr indent="0" marL="0">
              <a:buNone/>
            </a:pPr>
            <a:r>
              <a:rPr lang="en-US" sz="1400" b="1" dirty="0">
                <a:solidFill>
                  <a:srgbClr val="00A6CE"/>
                </a:solidFill>
              </a:rPr>
              <a:t>▸</a:t>
            </a:r>
            <a:endParaRPr lang="en-US" sz="1400" dirty="0"/>
          </a:p>
        </p:txBody>
      </p:sp>
      <p:sp>
        <p:nvSpPr>
          <p:cNvPr id="23" name="Text 21"/>
          <p:cNvSpPr/>
          <p:nvPr/>
        </p:nvSpPr>
        <p:spPr>
          <a:xfrm>
            <a:off x="1124712" y="2697480"/>
            <a:ext cx="1188720" cy="201168"/>
          </a:xfrm>
          <a:prstGeom prst="rect">
            <a:avLst/>
          </a:prstGeom>
          <a:noFill/>
          <a:ln/>
        </p:spPr>
        <p:txBody>
          <a:bodyPr wrap="square" rtlCol="0" anchor="ctr">
            <a:normAutofit/>
          </a:bodyPr>
          <a:lstStyle/>
          <a:p>
            <a:pPr indent="0" marL="0">
              <a:buNone/>
            </a:pPr>
            <a:r>
              <a:rPr lang="en-US" sz="1350" b="1" dirty="0">
                <a:solidFill>
                  <a:srgbClr val="394052"/>
                </a:solidFill>
              </a:rPr>
              <a:t>IronBarcode</a:t>
            </a:r>
            <a:endParaRPr lang="en-US" sz="1350" dirty="0"/>
          </a:p>
        </p:txBody>
      </p:sp>
      <p:sp>
        <p:nvSpPr>
          <p:cNvPr id="24" name="Text 22"/>
          <p:cNvSpPr/>
          <p:nvPr/>
        </p:nvSpPr>
        <p:spPr>
          <a:xfrm>
            <a:off x="1124712" y="2953512"/>
            <a:ext cx="1417320" cy="201168"/>
          </a:xfrm>
          <a:prstGeom prst="rect">
            <a:avLst/>
          </a:prstGeom>
          <a:noFill/>
          <a:ln/>
        </p:spPr>
        <p:txBody>
          <a:bodyPr wrap="square" rtlCol="0" anchor="ctr">
            <a:normAutofit/>
          </a:bodyPr>
          <a:lstStyle/>
          <a:p>
            <a:pPr indent="0" marL="0">
              <a:buNone/>
            </a:pPr>
            <a:r>
              <a:rPr lang="en-US" sz="960" dirty="0">
                <a:solidFill>
                  <a:srgbClr val="5B6273"/>
                </a:solidFill>
              </a:rPr>
              <a:t>Barcodes</a:t>
            </a:r>
            <a:endParaRPr lang="en-US" sz="960" dirty="0"/>
          </a:p>
        </p:txBody>
      </p:sp>
      <p:sp>
        <p:nvSpPr>
          <p:cNvPr id="25" name="Text 23"/>
          <p:cNvSpPr/>
          <p:nvPr/>
        </p:nvSpPr>
        <p:spPr>
          <a:xfrm>
            <a:off x="3017520" y="2724912"/>
            <a:ext cx="182880" cy="182880"/>
          </a:xfrm>
          <a:prstGeom prst="rect">
            <a:avLst/>
          </a:prstGeom>
          <a:noFill/>
          <a:ln/>
        </p:spPr>
        <p:txBody>
          <a:bodyPr wrap="square" rtlCol="0" anchor="ctr"/>
          <a:lstStyle/>
          <a:p>
            <a:pPr indent="0" marL="0">
              <a:buNone/>
            </a:pPr>
            <a:r>
              <a:rPr lang="en-US" sz="1400" b="1" dirty="0">
                <a:solidFill>
                  <a:srgbClr val="00A6CE"/>
                </a:solidFill>
              </a:rPr>
              <a:t>▸</a:t>
            </a:r>
            <a:endParaRPr lang="en-US" sz="1400" dirty="0"/>
          </a:p>
        </p:txBody>
      </p:sp>
      <p:sp>
        <p:nvSpPr>
          <p:cNvPr id="26" name="Text 24"/>
          <p:cNvSpPr/>
          <p:nvPr/>
        </p:nvSpPr>
        <p:spPr>
          <a:xfrm>
            <a:off x="3273552" y="2697480"/>
            <a:ext cx="1188720" cy="201168"/>
          </a:xfrm>
          <a:prstGeom prst="rect">
            <a:avLst/>
          </a:prstGeom>
          <a:noFill/>
          <a:ln/>
        </p:spPr>
        <p:txBody>
          <a:bodyPr wrap="square" rtlCol="0" anchor="ctr">
            <a:normAutofit/>
          </a:bodyPr>
          <a:lstStyle/>
          <a:p>
            <a:pPr indent="0" marL="0">
              <a:buNone/>
            </a:pPr>
            <a:r>
              <a:rPr lang="en-US" sz="1350" b="1" dirty="0">
                <a:solidFill>
                  <a:srgbClr val="394052"/>
                </a:solidFill>
              </a:rPr>
              <a:t>IronQR</a:t>
            </a:r>
            <a:endParaRPr lang="en-US" sz="1350" dirty="0"/>
          </a:p>
        </p:txBody>
      </p:sp>
      <p:sp>
        <p:nvSpPr>
          <p:cNvPr id="27" name="Text 25"/>
          <p:cNvSpPr/>
          <p:nvPr/>
        </p:nvSpPr>
        <p:spPr>
          <a:xfrm>
            <a:off x="3273552" y="2953512"/>
            <a:ext cx="1417320" cy="201168"/>
          </a:xfrm>
          <a:prstGeom prst="rect">
            <a:avLst/>
          </a:prstGeom>
          <a:noFill/>
          <a:ln/>
        </p:spPr>
        <p:txBody>
          <a:bodyPr wrap="square" rtlCol="0" anchor="ctr">
            <a:normAutofit/>
          </a:bodyPr>
          <a:lstStyle/>
          <a:p>
            <a:pPr indent="0" marL="0">
              <a:buNone/>
            </a:pPr>
            <a:r>
              <a:rPr lang="en-US" sz="960" dirty="0">
                <a:solidFill>
                  <a:srgbClr val="5B6273"/>
                </a:solidFill>
              </a:rPr>
              <a:t>QR codes</a:t>
            </a:r>
            <a:endParaRPr lang="en-US" sz="960" dirty="0"/>
          </a:p>
        </p:txBody>
      </p:sp>
      <p:sp>
        <p:nvSpPr>
          <p:cNvPr id="28" name="Text 26"/>
          <p:cNvSpPr/>
          <p:nvPr/>
        </p:nvSpPr>
        <p:spPr>
          <a:xfrm>
            <a:off x="5166360" y="2724912"/>
            <a:ext cx="182880" cy="182880"/>
          </a:xfrm>
          <a:prstGeom prst="rect">
            <a:avLst/>
          </a:prstGeom>
          <a:noFill/>
          <a:ln/>
        </p:spPr>
        <p:txBody>
          <a:bodyPr wrap="square" rtlCol="0" anchor="ctr"/>
          <a:lstStyle/>
          <a:p>
            <a:pPr indent="0" marL="0">
              <a:buNone/>
            </a:pPr>
            <a:r>
              <a:rPr lang="en-US" sz="1400" b="1" dirty="0">
                <a:solidFill>
                  <a:srgbClr val="00A6CE"/>
                </a:solidFill>
              </a:rPr>
              <a:t>▸</a:t>
            </a:r>
            <a:endParaRPr lang="en-US" sz="1400" dirty="0"/>
          </a:p>
        </p:txBody>
      </p:sp>
      <p:sp>
        <p:nvSpPr>
          <p:cNvPr id="29" name="Text 27"/>
          <p:cNvSpPr/>
          <p:nvPr/>
        </p:nvSpPr>
        <p:spPr>
          <a:xfrm>
            <a:off x="5422392" y="2697480"/>
            <a:ext cx="1188720" cy="201168"/>
          </a:xfrm>
          <a:prstGeom prst="rect">
            <a:avLst/>
          </a:prstGeom>
          <a:noFill/>
          <a:ln/>
        </p:spPr>
        <p:txBody>
          <a:bodyPr wrap="square" rtlCol="0" anchor="ctr">
            <a:normAutofit/>
          </a:bodyPr>
          <a:lstStyle/>
          <a:p>
            <a:pPr indent="0" marL="0">
              <a:buNone/>
            </a:pPr>
            <a:r>
              <a:rPr lang="en-US" sz="1350" b="1" dirty="0">
                <a:solidFill>
                  <a:srgbClr val="394052"/>
                </a:solidFill>
              </a:rPr>
              <a:t>IronZIP</a:t>
            </a:r>
            <a:endParaRPr lang="en-US" sz="1350" dirty="0"/>
          </a:p>
        </p:txBody>
      </p:sp>
      <p:sp>
        <p:nvSpPr>
          <p:cNvPr id="30" name="Text 28"/>
          <p:cNvSpPr/>
          <p:nvPr/>
        </p:nvSpPr>
        <p:spPr>
          <a:xfrm>
            <a:off x="5422392" y="2953512"/>
            <a:ext cx="1417320" cy="201168"/>
          </a:xfrm>
          <a:prstGeom prst="rect">
            <a:avLst/>
          </a:prstGeom>
          <a:noFill/>
          <a:ln/>
        </p:spPr>
        <p:txBody>
          <a:bodyPr wrap="square" rtlCol="0" anchor="ctr">
            <a:normAutofit/>
          </a:bodyPr>
          <a:lstStyle/>
          <a:p>
            <a:pPr indent="0" marL="0">
              <a:buNone/>
            </a:pPr>
            <a:r>
              <a:rPr lang="en-US" sz="960" dirty="0">
                <a:solidFill>
                  <a:srgbClr val="5B6273"/>
                </a:solidFill>
              </a:rPr>
              <a:t>Archive files</a:t>
            </a:r>
            <a:endParaRPr lang="en-US" sz="960" dirty="0"/>
          </a:p>
        </p:txBody>
      </p:sp>
      <p:sp>
        <p:nvSpPr>
          <p:cNvPr id="31" name="Text 29"/>
          <p:cNvSpPr/>
          <p:nvPr/>
        </p:nvSpPr>
        <p:spPr>
          <a:xfrm>
            <a:off x="7315200" y="2724912"/>
            <a:ext cx="182880" cy="182880"/>
          </a:xfrm>
          <a:prstGeom prst="rect">
            <a:avLst/>
          </a:prstGeom>
          <a:noFill/>
          <a:ln/>
        </p:spPr>
        <p:txBody>
          <a:bodyPr wrap="square" rtlCol="0" anchor="ctr"/>
          <a:lstStyle/>
          <a:p>
            <a:pPr indent="0" marL="0">
              <a:buNone/>
            </a:pPr>
            <a:r>
              <a:rPr lang="en-US" sz="1400" b="1" dirty="0">
                <a:solidFill>
                  <a:srgbClr val="00A6CE"/>
                </a:solidFill>
              </a:rPr>
              <a:t>▸</a:t>
            </a:r>
            <a:endParaRPr lang="en-US" sz="1400" dirty="0"/>
          </a:p>
        </p:txBody>
      </p:sp>
      <p:sp>
        <p:nvSpPr>
          <p:cNvPr id="32" name="Text 30"/>
          <p:cNvSpPr/>
          <p:nvPr/>
        </p:nvSpPr>
        <p:spPr>
          <a:xfrm>
            <a:off x="7571232" y="2697480"/>
            <a:ext cx="1188720" cy="201168"/>
          </a:xfrm>
          <a:prstGeom prst="rect">
            <a:avLst/>
          </a:prstGeom>
          <a:noFill/>
          <a:ln/>
        </p:spPr>
        <p:txBody>
          <a:bodyPr wrap="square" rtlCol="0" anchor="ctr">
            <a:normAutofit/>
          </a:bodyPr>
          <a:lstStyle/>
          <a:p>
            <a:pPr indent="0" marL="0">
              <a:buNone/>
            </a:pPr>
            <a:r>
              <a:rPr lang="en-US" sz="1350" b="1" dirty="0">
                <a:solidFill>
                  <a:srgbClr val="394052"/>
                </a:solidFill>
              </a:rPr>
              <a:t>IronPrint</a:t>
            </a:r>
            <a:endParaRPr lang="en-US" sz="1350" dirty="0"/>
          </a:p>
        </p:txBody>
      </p:sp>
      <p:sp>
        <p:nvSpPr>
          <p:cNvPr id="33" name="Text 31"/>
          <p:cNvSpPr/>
          <p:nvPr/>
        </p:nvSpPr>
        <p:spPr>
          <a:xfrm>
            <a:off x="7571232" y="2953512"/>
            <a:ext cx="1417320" cy="201168"/>
          </a:xfrm>
          <a:prstGeom prst="rect">
            <a:avLst/>
          </a:prstGeom>
          <a:noFill/>
          <a:ln/>
        </p:spPr>
        <p:txBody>
          <a:bodyPr wrap="square" rtlCol="0" anchor="ctr">
            <a:normAutofit/>
          </a:bodyPr>
          <a:lstStyle/>
          <a:p>
            <a:pPr indent="0" marL="0">
              <a:buNone/>
            </a:pPr>
            <a:r>
              <a:rPr lang="en-US" sz="960" dirty="0">
                <a:solidFill>
                  <a:srgbClr val="5B6273"/>
                </a:solidFill>
              </a:rPr>
              <a:t>Printing</a:t>
            </a:r>
            <a:endParaRPr lang="en-US" sz="960" dirty="0"/>
          </a:p>
        </p:txBody>
      </p:sp>
      <p:sp>
        <p:nvSpPr>
          <p:cNvPr id="34" name="Text 32"/>
          <p:cNvSpPr/>
          <p:nvPr/>
        </p:nvSpPr>
        <p:spPr>
          <a:xfrm>
            <a:off x="9464040" y="2724912"/>
            <a:ext cx="182880" cy="182880"/>
          </a:xfrm>
          <a:prstGeom prst="rect">
            <a:avLst/>
          </a:prstGeom>
          <a:noFill/>
          <a:ln/>
        </p:spPr>
        <p:txBody>
          <a:bodyPr wrap="square" rtlCol="0" anchor="ctr"/>
          <a:lstStyle/>
          <a:p>
            <a:pPr indent="0" marL="0">
              <a:buNone/>
            </a:pPr>
            <a:r>
              <a:rPr lang="en-US" sz="1400" b="1" dirty="0">
                <a:solidFill>
                  <a:srgbClr val="00A6CE"/>
                </a:solidFill>
              </a:rPr>
              <a:t>▸</a:t>
            </a:r>
            <a:endParaRPr lang="en-US" sz="1400" dirty="0"/>
          </a:p>
        </p:txBody>
      </p:sp>
      <p:sp>
        <p:nvSpPr>
          <p:cNvPr id="35" name="Text 33"/>
          <p:cNvSpPr/>
          <p:nvPr/>
        </p:nvSpPr>
        <p:spPr>
          <a:xfrm>
            <a:off x="9720072" y="2697480"/>
            <a:ext cx="1188720" cy="201168"/>
          </a:xfrm>
          <a:prstGeom prst="rect">
            <a:avLst/>
          </a:prstGeom>
          <a:noFill/>
          <a:ln/>
        </p:spPr>
        <p:txBody>
          <a:bodyPr wrap="square" rtlCol="0" anchor="ctr">
            <a:normAutofit/>
          </a:bodyPr>
          <a:lstStyle/>
          <a:p>
            <a:pPr indent="0" marL="0">
              <a:buNone/>
            </a:pPr>
            <a:r>
              <a:rPr lang="en-US" sz="1350" b="1" dirty="0">
                <a:solidFill>
                  <a:srgbClr val="394052"/>
                </a:solidFill>
              </a:rPr>
              <a:t>IronWebScraper</a:t>
            </a:r>
            <a:endParaRPr lang="en-US" sz="1350" dirty="0"/>
          </a:p>
        </p:txBody>
      </p:sp>
      <p:sp>
        <p:nvSpPr>
          <p:cNvPr id="36" name="Text 34"/>
          <p:cNvSpPr/>
          <p:nvPr/>
        </p:nvSpPr>
        <p:spPr>
          <a:xfrm>
            <a:off x="9720072" y="2953512"/>
            <a:ext cx="1417320" cy="201168"/>
          </a:xfrm>
          <a:prstGeom prst="rect">
            <a:avLst/>
          </a:prstGeom>
          <a:noFill/>
          <a:ln/>
        </p:spPr>
        <p:txBody>
          <a:bodyPr wrap="square" rtlCol="0" anchor="ctr">
            <a:normAutofit/>
          </a:bodyPr>
          <a:lstStyle/>
          <a:p>
            <a:pPr indent="0" marL="0">
              <a:buNone/>
            </a:pPr>
            <a:r>
              <a:rPr lang="en-US" sz="960" dirty="0">
                <a:solidFill>
                  <a:srgbClr val="5B6273"/>
                </a:solidFill>
              </a:rPr>
              <a:t>Web data</a:t>
            </a:r>
            <a:endParaRPr lang="en-US" sz="960" dirty="0"/>
          </a:p>
        </p:txBody>
      </p:sp>
      <p:sp>
        <p:nvSpPr>
          <p:cNvPr id="37" name="Text 35"/>
          <p:cNvSpPr/>
          <p:nvPr/>
        </p:nvSpPr>
        <p:spPr>
          <a:xfrm>
            <a:off x="777240" y="408736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38" name="Text 36"/>
          <p:cNvSpPr/>
          <p:nvPr/>
        </p:nvSpPr>
        <p:spPr>
          <a:xfrm>
            <a:off x="1188720" y="406908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AI ingestion rarely stops at PDFs</a:t>
            </a:r>
            <a:endParaRPr lang="en-US" sz="2000" dirty="0"/>
          </a:p>
        </p:txBody>
      </p:sp>
      <p:sp>
        <p:nvSpPr>
          <p:cNvPr id="39" name="Text 37"/>
          <p:cNvSpPr/>
          <p:nvPr/>
        </p:nvSpPr>
        <p:spPr>
          <a:xfrm>
            <a:off x="1435608" y="4462272"/>
            <a:ext cx="9966960" cy="566928"/>
          </a:xfrm>
          <a:prstGeom prst="rect">
            <a:avLst/>
          </a:prstGeom>
          <a:noFill/>
          <a:ln/>
        </p:spPr>
        <p:txBody>
          <a:bodyPr wrap="square" rtlCol="0" anchor="ctr">
            <a:normAutofit/>
          </a:bodyPr>
          <a:lstStyle/>
          <a:p>
            <a:pPr indent="0" marL="0">
              <a:buNone/>
            </a:pPr>
            <a:r>
              <a:rPr lang="en-US" sz="1700" dirty="0">
                <a:solidFill>
                  <a:srgbClr val="394052"/>
                </a:solidFill>
              </a:rPr>
              <a:t>Enterprise portals may need to process contracts, spreadsheets, presentations, forms, barcodes, QR codes, ZIP uploads, and web content.</a:t>
            </a:r>
            <a:endParaRPr lang="en-US" sz="1700" dirty="0"/>
          </a:p>
        </p:txBody>
      </p:sp>
      <p:sp>
        <p:nvSpPr>
          <p:cNvPr id="40" name="Text 38"/>
          <p:cNvSpPr/>
          <p:nvPr/>
        </p:nvSpPr>
        <p:spPr>
          <a:xfrm>
            <a:off x="777240" y="536752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41" name="Text 39"/>
          <p:cNvSpPr/>
          <p:nvPr/>
        </p:nvSpPr>
        <p:spPr>
          <a:xfrm>
            <a:off x="1188720" y="534924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Use the smallest toolset that solves the workflow</a:t>
            </a:r>
            <a:endParaRPr lang="en-US" sz="2000" dirty="0"/>
          </a:p>
        </p:txBody>
      </p:sp>
      <p:sp>
        <p:nvSpPr>
          <p:cNvPr id="42" name="Text 40"/>
          <p:cNvSpPr/>
          <p:nvPr/>
        </p:nvSpPr>
        <p:spPr>
          <a:xfrm>
            <a:off x="1435608" y="5742432"/>
            <a:ext cx="9966960" cy="566928"/>
          </a:xfrm>
          <a:prstGeom prst="rect">
            <a:avLst/>
          </a:prstGeom>
          <a:noFill/>
          <a:ln/>
        </p:spPr>
        <p:txBody>
          <a:bodyPr wrap="square" rtlCol="0" anchor="ctr">
            <a:normAutofit/>
          </a:bodyPr>
          <a:lstStyle/>
          <a:p>
            <a:pPr indent="0" marL="0">
              <a:buNone/>
            </a:pPr>
            <a:r>
              <a:rPr lang="en-US" sz="1700" dirty="0">
                <a:solidFill>
                  <a:srgbClr val="394052"/>
                </a:solidFill>
              </a:rPr>
              <a:t>For this course we start with IronPDF and add OCR support where scanned PDFs require it; other IronSuite libraries are introduced as extensibility options.</a:t>
            </a:r>
            <a:endParaRPr lang="en-US" sz="1700" dirty="0"/>
          </a:p>
        </p:txBody>
      </p:sp>
      <p:sp>
        <p:nvSpPr>
          <p:cNvPr id="44" name="Text 41"/>
          <p:cNvSpPr/>
          <p:nvPr/>
        </p:nvSpPr>
        <p:spPr>
          <a:xfrm>
            <a:off x="685800" y="6355080"/>
            <a:ext cx="10424160" cy="228600"/>
          </a:xfrm>
          <a:prstGeom prst="rect">
            <a:avLst/>
          </a:prstGeom>
          <a:noFill/>
          <a:ln/>
        </p:spPr>
        <p:txBody>
          <a:bodyPr wrap="square" rtlCol="0" anchor="ctr">
            <a:normAutofit/>
          </a:bodyPr>
          <a:lstStyle/>
          <a:p>
            <a:pPr indent="0" marL="0">
              <a:buNone/>
            </a:pPr>
            <a:r>
              <a:rPr lang="en-US" sz="750" i="1" dirty="0">
                <a:solidFill>
                  <a:srgbClr val="7A8090"/>
                </a:solidFill>
              </a:rPr>
              <a:t>Iron Software AI info page: IronSuite bundles ten .NET libraries; no single monolithic IronSuite NuGet package.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sp>
      <p:sp>
        <p:nvSpPr>
          <p:cNvPr id="4" name="Text 2"/>
          <p:cNvSpPr/>
          <p:nvPr/>
        </p:nvSpPr>
        <p:spPr>
          <a:xfrm>
            <a:off x="11841480" y="6510528"/>
            <a:ext cx="201168" cy="182880"/>
          </a:xfrm>
          <a:prstGeom prst="rect">
            <a:avLst/>
          </a:prstGeom>
          <a:noFill/>
          <a:ln/>
        </p:spPr>
        <p:txBody>
          <a:bodyPr wrap="square" rtlCol="0" anchor="ctr"/>
          <a:lstStyle/>
          <a:p>
            <a:pPr algn="r" indent="0" marL="0">
              <a:buNone/>
            </a:pPr>
            <a:r>
              <a:rPr lang="en-US" sz="1400" dirty="0">
                <a:solidFill>
                  <a:srgbClr val="FFFFFF"/>
                </a:solidFill>
                <a:latin typeface="Arial" pitchFamily="34" charset="0"/>
                <a:ea typeface="Arial" pitchFamily="34" charset="-122"/>
                <a:cs typeface="Arial" pitchFamily="34" charset="-120"/>
              </a:rPr>
              <a:t>7</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indent="0" marL="0">
              <a:buNone/>
            </a:pPr>
            <a:r>
              <a:rPr lang="en-US" sz="3400" dirty="0">
                <a:solidFill>
                  <a:srgbClr val="007DB3"/>
                </a:solidFill>
                <a:latin typeface="Arial" pitchFamily="34" charset="0"/>
                <a:ea typeface="Arial" pitchFamily="34" charset="-122"/>
                <a:cs typeface="Arial" pitchFamily="34" charset="-120"/>
              </a:rPr>
              <a:t>Ideal AI Document Workflow Pattern</a:t>
            </a:r>
            <a:endParaRPr lang="en-US" sz="3400" dirty="0"/>
          </a:p>
        </p:txBody>
      </p:sp>
      <p:sp>
        <p:nvSpPr>
          <p:cNvPr id="6" name="Text 4"/>
          <p:cNvSpPr/>
          <p:nvPr/>
        </p:nvSpPr>
        <p:spPr>
          <a:xfrm>
            <a:off x="713232" y="1298448"/>
            <a:ext cx="10607040" cy="320040"/>
          </a:xfrm>
          <a:prstGeom prst="rect">
            <a:avLst/>
          </a:prstGeom>
          <a:noFill/>
          <a:ln/>
        </p:spPr>
        <p:txBody>
          <a:bodyPr wrap="square" rtlCol="0" anchor="ctr">
            <a:normAutofit/>
          </a:bodyPr>
          <a:lstStyle/>
          <a:p>
            <a:pPr indent="0" marL="0">
              <a:buNone/>
            </a:pPr>
            <a:r>
              <a:rPr lang="en-US" sz="1700" dirty="0">
                <a:solidFill>
                  <a:srgbClr val="5B6273"/>
                </a:solidFill>
              </a:rPr>
              <a:t>Keep deterministic processing, retrieval, and generation as separate responsibilities.</a:t>
            </a:r>
            <a:endParaRPr lang="en-US" sz="1700" dirty="0"/>
          </a:p>
        </p:txBody>
      </p:sp>
      <p:sp>
        <p:nvSpPr>
          <p:cNvPr id="7" name="Shape 5"/>
          <p:cNvSpPr/>
          <p:nvPr/>
        </p:nvSpPr>
        <p:spPr>
          <a:xfrm>
            <a:off x="777240" y="1847088"/>
            <a:ext cx="384048" cy="384048"/>
          </a:xfrm>
          <a:prstGeom prst="ellipse">
            <a:avLst/>
          </a:prstGeom>
          <a:solidFill>
            <a:srgbClr val="00A6CE"/>
          </a:solidFill>
          <a:ln w="12700">
            <a:solidFill>
              <a:srgbClr val="00A6CE"/>
            </a:solidFill>
            <a:prstDash val="solid"/>
          </a:ln>
        </p:spPr>
      </p:sp>
      <p:sp>
        <p:nvSpPr>
          <p:cNvPr id="8" name="Text 6"/>
          <p:cNvSpPr/>
          <p:nvPr/>
        </p:nvSpPr>
        <p:spPr>
          <a:xfrm>
            <a:off x="777240" y="1938528"/>
            <a:ext cx="384048" cy="164592"/>
          </a:xfrm>
          <a:prstGeom prst="rect">
            <a:avLst/>
          </a:prstGeom>
          <a:noFill/>
          <a:ln/>
        </p:spPr>
        <p:txBody>
          <a:bodyPr wrap="square" rtlCol="0" anchor="ctr"/>
          <a:lstStyle/>
          <a:p>
            <a:pPr algn="ctr" indent="0" marL="0">
              <a:buNone/>
            </a:pPr>
            <a:r>
              <a:rPr lang="en-US" sz="1100" b="1" dirty="0">
                <a:solidFill>
                  <a:srgbClr val="FFFFFF"/>
                </a:solidFill>
              </a:rPr>
              <a:t>1</a:t>
            </a:r>
            <a:endParaRPr lang="en-US" sz="1100" dirty="0"/>
          </a:p>
        </p:txBody>
      </p:sp>
      <p:sp>
        <p:nvSpPr>
          <p:cNvPr id="9" name="Text 7"/>
          <p:cNvSpPr/>
          <p:nvPr/>
        </p:nvSpPr>
        <p:spPr>
          <a:xfrm>
            <a:off x="1325880" y="1828800"/>
            <a:ext cx="1389888" cy="274320"/>
          </a:xfrm>
          <a:prstGeom prst="rect">
            <a:avLst/>
          </a:prstGeom>
          <a:noFill/>
          <a:ln/>
        </p:spPr>
        <p:txBody>
          <a:bodyPr wrap="square" rtlCol="0" anchor="ctr"/>
          <a:lstStyle/>
          <a:p>
            <a:pPr indent="0" marL="0">
              <a:buNone/>
            </a:pPr>
            <a:r>
              <a:rPr lang="en-US" sz="1800" b="1" dirty="0">
                <a:solidFill>
                  <a:srgbClr val="394052"/>
                </a:solidFill>
              </a:rPr>
              <a:t>Ingest</a:t>
            </a:r>
            <a:endParaRPr lang="en-US" sz="1800" dirty="0"/>
          </a:p>
        </p:txBody>
      </p:sp>
      <p:sp>
        <p:nvSpPr>
          <p:cNvPr id="10" name="Text 8"/>
          <p:cNvSpPr/>
          <p:nvPr/>
        </p:nvSpPr>
        <p:spPr>
          <a:xfrm>
            <a:off x="2834640" y="1828800"/>
            <a:ext cx="8046720" cy="301752"/>
          </a:xfrm>
          <a:prstGeom prst="rect">
            <a:avLst/>
          </a:prstGeom>
          <a:noFill/>
          <a:ln/>
        </p:spPr>
        <p:txBody>
          <a:bodyPr wrap="square" rtlCol="0" anchor="ctr">
            <a:normAutofit/>
          </a:bodyPr>
          <a:lstStyle/>
          <a:p>
            <a:pPr indent="0" marL="0">
              <a:buNone/>
            </a:pPr>
            <a:r>
              <a:rPr lang="en-US" sz="1600" dirty="0">
                <a:solidFill>
                  <a:srgbClr val="394052"/>
                </a:solidFill>
              </a:rPr>
              <a:t>Upload and store original files with user, tenant, and document metadata.</a:t>
            </a:r>
            <a:endParaRPr lang="en-US" sz="1600" dirty="0"/>
          </a:p>
        </p:txBody>
      </p:sp>
      <p:sp>
        <p:nvSpPr>
          <p:cNvPr id="11" name="Shape 9"/>
          <p:cNvSpPr/>
          <p:nvPr/>
        </p:nvSpPr>
        <p:spPr>
          <a:xfrm>
            <a:off x="777240" y="2670048"/>
            <a:ext cx="384048" cy="384048"/>
          </a:xfrm>
          <a:prstGeom prst="ellipse">
            <a:avLst/>
          </a:prstGeom>
          <a:solidFill>
            <a:srgbClr val="00A6CE"/>
          </a:solidFill>
          <a:ln w="12700">
            <a:solidFill>
              <a:srgbClr val="00A6CE"/>
            </a:solidFill>
            <a:prstDash val="solid"/>
          </a:ln>
        </p:spPr>
      </p:sp>
      <p:sp>
        <p:nvSpPr>
          <p:cNvPr id="12" name="Text 10"/>
          <p:cNvSpPr/>
          <p:nvPr/>
        </p:nvSpPr>
        <p:spPr>
          <a:xfrm>
            <a:off x="777240" y="2761488"/>
            <a:ext cx="384048" cy="164592"/>
          </a:xfrm>
          <a:prstGeom prst="rect">
            <a:avLst/>
          </a:prstGeom>
          <a:noFill/>
          <a:ln/>
        </p:spPr>
        <p:txBody>
          <a:bodyPr wrap="square" rtlCol="0" anchor="ctr"/>
          <a:lstStyle/>
          <a:p>
            <a:pPr algn="ctr" indent="0" marL="0">
              <a:buNone/>
            </a:pPr>
            <a:r>
              <a:rPr lang="en-US" sz="1100" b="1" dirty="0">
                <a:solidFill>
                  <a:srgbClr val="FFFFFF"/>
                </a:solidFill>
              </a:rPr>
              <a:t>2</a:t>
            </a:r>
            <a:endParaRPr lang="en-US" sz="1100" dirty="0"/>
          </a:p>
        </p:txBody>
      </p:sp>
      <p:sp>
        <p:nvSpPr>
          <p:cNvPr id="13" name="Text 11"/>
          <p:cNvSpPr/>
          <p:nvPr/>
        </p:nvSpPr>
        <p:spPr>
          <a:xfrm>
            <a:off x="1325880" y="2651760"/>
            <a:ext cx="1389888" cy="274320"/>
          </a:xfrm>
          <a:prstGeom prst="rect">
            <a:avLst/>
          </a:prstGeom>
          <a:noFill/>
          <a:ln/>
        </p:spPr>
        <p:txBody>
          <a:bodyPr wrap="square" rtlCol="0" anchor="ctr"/>
          <a:lstStyle/>
          <a:p>
            <a:pPr indent="0" marL="0">
              <a:buNone/>
            </a:pPr>
            <a:r>
              <a:rPr lang="en-US" sz="1800" b="1" dirty="0">
                <a:solidFill>
                  <a:srgbClr val="394052"/>
                </a:solidFill>
              </a:rPr>
              <a:t>Extract</a:t>
            </a:r>
            <a:endParaRPr lang="en-US" sz="1800" dirty="0"/>
          </a:p>
        </p:txBody>
      </p:sp>
      <p:sp>
        <p:nvSpPr>
          <p:cNvPr id="14" name="Text 12"/>
          <p:cNvSpPr/>
          <p:nvPr/>
        </p:nvSpPr>
        <p:spPr>
          <a:xfrm>
            <a:off x="2834640" y="2651760"/>
            <a:ext cx="8046720" cy="301752"/>
          </a:xfrm>
          <a:prstGeom prst="rect">
            <a:avLst/>
          </a:prstGeom>
          <a:noFill/>
          <a:ln/>
        </p:spPr>
        <p:txBody>
          <a:bodyPr wrap="square" rtlCol="0" anchor="ctr">
            <a:normAutofit/>
          </a:bodyPr>
          <a:lstStyle/>
          <a:p>
            <a:pPr indent="0" marL="0">
              <a:buNone/>
            </a:pPr>
            <a:r>
              <a:rPr lang="en-US" sz="1600" dirty="0">
                <a:solidFill>
                  <a:srgbClr val="394052"/>
                </a:solidFill>
              </a:rPr>
              <a:t>Use IronPDF for machine-readable PDFs; use OCR support when pages are image-based.</a:t>
            </a:r>
            <a:endParaRPr lang="en-US" sz="1600" dirty="0"/>
          </a:p>
        </p:txBody>
      </p:sp>
      <p:sp>
        <p:nvSpPr>
          <p:cNvPr id="15" name="Shape 13"/>
          <p:cNvSpPr/>
          <p:nvPr/>
        </p:nvSpPr>
        <p:spPr>
          <a:xfrm>
            <a:off x="777240" y="3493008"/>
            <a:ext cx="384048" cy="384048"/>
          </a:xfrm>
          <a:prstGeom prst="ellipse">
            <a:avLst/>
          </a:prstGeom>
          <a:solidFill>
            <a:srgbClr val="00A6CE"/>
          </a:solidFill>
          <a:ln w="12700">
            <a:solidFill>
              <a:srgbClr val="00A6CE"/>
            </a:solidFill>
            <a:prstDash val="solid"/>
          </a:ln>
        </p:spPr>
      </p:sp>
      <p:sp>
        <p:nvSpPr>
          <p:cNvPr id="16" name="Text 14"/>
          <p:cNvSpPr/>
          <p:nvPr/>
        </p:nvSpPr>
        <p:spPr>
          <a:xfrm>
            <a:off x="777240" y="3584448"/>
            <a:ext cx="384048" cy="164592"/>
          </a:xfrm>
          <a:prstGeom prst="rect">
            <a:avLst/>
          </a:prstGeom>
          <a:noFill/>
          <a:ln/>
        </p:spPr>
        <p:txBody>
          <a:bodyPr wrap="square" rtlCol="0" anchor="ctr"/>
          <a:lstStyle/>
          <a:p>
            <a:pPr algn="ctr" indent="0" marL="0">
              <a:buNone/>
            </a:pPr>
            <a:r>
              <a:rPr lang="en-US" sz="1100" b="1" dirty="0">
                <a:solidFill>
                  <a:srgbClr val="FFFFFF"/>
                </a:solidFill>
              </a:rPr>
              <a:t>3</a:t>
            </a:r>
            <a:endParaRPr lang="en-US" sz="1100" dirty="0"/>
          </a:p>
        </p:txBody>
      </p:sp>
      <p:sp>
        <p:nvSpPr>
          <p:cNvPr id="17" name="Text 15"/>
          <p:cNvSpPr/>
          <p:nvPr/>
        </p:nvSpPr>
        <p:spPr>
          <a:xfrm>
            <a:off x="1325880" y="3474720"/>
            <a:ext cx="1389888" cy="274320"/>
          </a:xfrm>
          <a:prstGeom prst="rect">
            <a:avLst/>
          </a:prstGeom>
          <a:noFill/>
          <a:ln/>
        </p:spPr>
        <p:txBody>
          <a:bodyPr wrap="square" rtlCol="0" anchor="ctr"/>
          <a:lstStyle/>
          <a:p>
            <a:pPr indent="0" marL="0">
              <a:buNone/>
            </a:pPr>
            <a:r>
              <a:rPr lang="en-US" sz="1800" b="1" dirty="0">
                <a:solidFill>
                  <a:srgbClr val="394052"/>
                </a:solidFill>
              </a:rPr>
              <a:t>Prepare</a:t>
            </a:r>
            <a:endParaRPr lang="en-US" sz="1800" dirty="0"/>
          </a:p>
        </p:txBody>
      </p:sp>
      <p:sp>
        <p:nvSpPr>
          <p:cNvPr id="18" name="Text 16"/>
          <p:cNvSpPr/>
          <p:nvPr/>
        </p:nvSpPr>
        <p:spPr>
          <a:xfrm>
            <a:off x="2834640" y="3474720"/>
            <a:ext cx="8046720" cy="301752"/>
          </a:xfrm>
          <a:prstGeom prst="rect">
            <a:avLst/>
          </a:prstGeom>
          <a:noFill/>
          <a:ln/>
        </p:spPr>
        <p:txBody>
          <a:bodyPr wrap="square" rtlCol="0" anchor="ctr">
            <a:normAutofit/>
          </a:bodyPr>
          <a:lstStyle/>
          <a:p>
            <a:pPr indent="0" marL="0">
              <a:buNone/>
            </a:pPr>
            <a:r>
              <a:rPr lang="en-US" sz="1600" dirty="0">
                <a:solidFill>
                  <a:srgbClr val="394052"/>
                </a:solidFill>
              </a:rPr>
              <a:t>Clean text, split by sections/pages, attach metadata, and remove noise.</a:t>
            </a:r>
            <a:endParaRPr lang="en-US" sz="1600" dirty="0"/>
          </a:p>
        </p:txBody>
      </p:sp>
      <p:sp>
        <p:nvSpPr>
          <p:cNvPr id="19" name="Shape 17"/>
          <p:cNvSpPr/>
          <p:nvPr/>
        </p:nvSpPr>
        <p:spPr>
          <a:xfrm>
            <a:off x="777240" y="4315968"/>
            <a:ext cx="384048" cy="384048"/>
          </a:xfrm>
          <a:prstGeom prst="ellipse">
            <a:avLst/>
          </a:prstGeom>
          <a:solidFill>
            <a:srgbClr val="00A6CE"/>
          </a:solidFill>
          <a:ln w="12700">
            <a:solidFill>
              <a:srgbClr val="00A6CE"/>
            </a:solidFill>
            <a:prstDash val="solid"/>
          </a:ln>
        </p:spPr>
      </p:sp>
      <p:sp>
        <p:nvSpPr>
          <p:cNvPr id="20" name="Text 18"/>
          <p:cNvSpPr/>
          <p:nvPr/>
        </p:nvSpPr>
        <p:spPr>
          <a:xfrm>
            <a:off x="777240" y="4407408"/>
            <a:ext cx="384048" cy="164592"/>
          </a:xfrm>
          <a:prstGeom prst="rect">
            <a:avLst/>
          </a:prstGeom>
          <a:noFill/>
          <a:ln/>
        </p:spPr>
        <p:txBody>
          <a:bodyPr wrap="square" rtlCol="0" anchor="ctr"/>
          <a:lstStyle/>
          <a:p>
            <a:pPr algn="ctr" indent="0" marL="0">
              <a:buNone/>
            </a:pPr>
            <a:r>
              <a:rPr lang="en-US" sz="1100" b="1" dirty="0">
                <a:solidFill>
                  <a:srgbClr val="FFFFFF"/>
                </a:solidFill>
              </a:rPr>
              <a:t>4</a:t>
            </a:r>
            <a:endParaRPr lang="en-US" sz="1100" dirty="0"/>
          </a:p>
        </p:txBody>
      </p:sp>
      <p:sp>
        <p:nvSpPr>
          <p:cNvPr id="21" name="Text 19"/>
          <p:cNvSpPr/>
          <p:nvPr/>
        </p:nvSpPr>
        <p:spPr>
          <a:xfrm>
            <a:off x="1325880" y="4297680"/>
            <a:ext cx="1389888" cy="274320"/>
          </a:xfrm>
          <a:prstGeom prst="rect">
            <a:avLst/>
          </a:prstGeom>
          <a:noFill/>
          <a:ln/>
        </p:spPr>
        <p:txBody>
          <a:bodyPr wrap="square" rtlCol="0" anchor="ctr"/>
          <a:lstStyle/>
          <a:p>
            <a:pPr indent="0" marL="0">
              <a:buNone/>
            </a:pPr>
            <a:r>
              <a:rPr lang="en-US" sz="1800" b="1" dirty="0">
                <a:solidFill>
                  <a:srgbClr val="394052"/>
                </a:solidFill>
              </a:rPr>
              <a:t>Retrieve</a:t>
            </a:r>
            <a:endParaRPr lang="en-US" sz="1800" dirty="0"/>
          </a:p>
        </p:txBody>
      </p:sp>
      <p:sp>
        <p:nvSpPr>
          <p:cNvPr id="22" name="Text 20"/>
          <p:cNvSpPr/>
          <p:nvPr/>
        </p:nvSpPr>
        <p:spPr>
          <a:xfrm>
            <a:off x="2834640" y="4297680"/>
            <a:ext cx="8046720" cy="301752"/>
          </a:xfrm>
          <a:prstGeom prst="rect">
            <a:avLst/>
          </a:prstGeom>
          <a:noFill/>
          <a:ln/>
        </p:spPr>
        <p:txBody>
          <a:bodyPr wrap="square" rtlCol="0" anchor="ctr">
            <a:normAutofit/>
          </a:bodyPr>
          <a:lstStyle/>
          <a:p>
            <a:pPr indent="0" marL="0">
              <a:buNone/>
            </a:pPr>
            <a:r>
              <a:rPr lang="en-US" sz="1600" dirty="0">
                <a:solidFill>
                  <a:srgbClr val="394052"/>
                </a:solidFill>
              </a:rPr>
              <a:t>Embed chunks and search only the content relevant to the current question.</a:t>
            </a:r>
            <a:endParaRPr lang="en-US" sz="1600" dirty="0"/>
          </a:p>
        </p:txBody>
      </p:sp>
      <p:sp>
        <p:nvSpPr>
          <p:cNvPr id="23" name="Shape 21"/>
          <p:cNvSpPr/>
          <p:nvPr/>
        </p:nvSpPr>
        <p:spPr>
          <a:xfrm>
            <a:off x="777240" y="5138928"/>
            <a:ext cx="384048" cy="384048"/>
          </a:xfrm>
          <a:prstGeom prst="ellipse">
            <a:avLst/>
          </a:prstGeom>
          <a:solidFill>
            <a:srgbClr val="00A6CE"/>
          </a:solidFill>
          <a:ln w="12700">
            <a:solidFill>
              <a:srgbClr val="00A6CE"/>
            </a:solidFill>
            <a:prstDash val="solid"/>
          </a:ln>
        </p:spPr>
      </p:sp>
      <p:sp>
        <p:nvSpPr>
          <p:cNvPr id="24" name="Text 22"/>
          <p:cNvSpPr/>
          <p:nvPr/>
        </p:nvSpPr>
        <p:spPr>
          <a:xfrm>
            <a:off x="777240" y="5230368"/>
            <a:ext cx="384048" cy="164592"/>
          </a:xfrm>
          <a:prstGeom prst="rect">
            <a:avLst/>
          </a:prstGeom>
          <a:noFill/>
          <a:ln/>
        </p:spPr>
        <p:txBody>
          <a:bodyPr wrap="square" rtlCol="0" anchor="ctr"/>
          <a:lstStyle/>
          <a:p>
            <a:pPr algn="ctr" indent="0" marL="0">
              <a:buNone/>
            </a:pPr>
            <a:r>
              <a:rPr lang="en-US" sz="1100" b="1" dirty="0">
                <a:solidFill>
                  <a:srgbClr val="FFFFFF"/>
                </a:solidFill>
              </a:rPr>
              <a:t>5</a:t>
            </a:r>
            <a:endParaRPr lang="en-US" sz="1100" dirty="0"/>
          </a:p>
        </p:txBody>
      </p:sp>
      <p:sp>
        <p:nvSpPr>
          <p:cNvPr id="25" name="Text 23"/>
          <p:cNvSpPr/>
          <p:nvPr/>
        </p:nvSpPr>
        <p:spPr>
          <a:xfrm>
            <a:off x="1325880" y="5120640"/>
            <a:ext cx="1389888" cy="274320"/>
          </a:xfrm>
          <a:prstGeom prst="rect">
            <a:avLst/>
          </a:prstGeom>
          <a:noFill/>
          <a:ln/>
        </p:spPr>
        <p:txBody>
          <a:bodyPr wrap="square" rtlCol="0" anchor="ctr"/>
          <a:lstStyle/>
          <a:p>
            <a:pPr indent="0" marL="0">
              <a:buNone/>
            </a:pPr>
            <a:r>
              <a:rPr lang="en-US" sz="1800" b="1" dirty="0">
                <a:solidFill>
                  <a:srgbClr val="394052"/>
                </a:solidFill>
              </a:rPr>
              <a:t>Generate</a:t>
            </a:r>
            <a:endParaRPr lang="en-US" sz="1800" dirty="0"/>
          </a:p>
        </p:txBody>
      </p:sp>
      <p:sp>
        <p:nvSpPr>
          <p:cNvPr id="26" name="Text 24"/>
          <p:cNvSpPr/>
          <p:nvPr/>
        </p:nvSpPr>
        <p:spPr>
          <a:xfrm>
            <a:off x="2834640" y="5120640"/>
            <a:ext cx="8046720" cy="301752"/>
          </a:xfrm>
          <a:prstGeom prst="rect">
            <a:avLst/>
          </a:prstGeom>
          <a:noFill/>
          <a:ln/>
        </p:spPr>
        <p:txBody>
          <a:bodyPr wrap="square" rtlCol="0" anchor="ctr">
            <a:normAutofit/>
          </a:bodyPr>
          <a:lstStyle/>
          <a:p>
            <a:pPr indent="0" marL="0">
              <a:buNone/>
            </a:pPr>
            <a:r>
              <a:rPr lang="en-US" sz="1600" dirty="0">
                <a:solidFill>
                  <a:srgbClr val="394052"/>
                </a:solidFill>
              </a:rPr>
              <a:t>Use Semantic Kernel + Azure OpenAI to answer with grounded context and citations.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sp>
      <p:sp>
        <p:nvSpPr>
          <p:cNvPr id="4" name="Text 2"/>
          <p:cNvSpPr/>
          <p:nvPr/>
        </p:nvSpPr>
        <p:spPr>
          <a:xfrm>
            <a:off x="11841480" y="6510528"/>
            <a:ext cx="201168" cy="182880"/>
          </a:xfrm>
          <a:prstGeom prst="rect">
            <a:avLst/>
          </a:prstGeom>
          <a:noFill/>
          <a:ln/>
        </p:spPr>
        <p:txBody>
          <a:bodyPr wrap="square" rtlCol="0" anchor="ctr"/>
          <a:lstStyle/>
          <a:p>
            <a:pPr algn="r" indent="0" marL="0">
              <a:buNone/>
            </a:pPr>
            <a:r>
              <a:rPr lang="en-US" sz="1400" dirty="0">
                <a:solidFill>
                  <a:srgbClr val="FFFFFF"/>
                </a:solidFill>
                <a:latin typeface="Arial" pitchFamily="34" charset="0"/>
                <a:ea typeface="Arial" pitchFamily="34" charset="-122"/>
                <a:cs typeface="Arial" pitchFamily="34" charset="-120"/>
              </a:rPr>
              <a:t>8</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indent="0" marL="0">
              <a:buNone/>
            </a:pPr>
            <a:r>
              <a:rPr lang="en-US" sz="3400" dirty="0">
                <a:solidFill>
                  <a:srgbClr val="007DB3"/>
                </a:solidFill>
                <a:latin typeface="Arial" pitchFamily="34" charset="0"/>
                <a:ea typeface="Arial" pitchFamily="34" charset="-122"/>
                <a:cs typeface="Arial" pitchFamily="34" charset="-120"/>
              </a:rPr>
              <a:t>Balanced Evaluation Guidance</a:t>
            </a:r>
            <a:endParaRPr lang="en-US" sz="3400" dirty="0"/>
          </a:p>
        </p:txBody>
      </p:sp>
      <p:sp>
        <p:nvSpPr>
          <p:cNvPr id="6" name="Text 4"/>
          <p:cNvSpPr/>
          <p:nvPr/>
        </p:nvSpPr>
        <p:spPr>
          <a:xfrm>
            <a:off x="713232" y="1298448"/>
            <a:ext cx="10607040" cy="320040"/>
          </a:xfrm>
          <a:prstGeom prst="rect">
            <a:avLst/>
          </a:prstGeom>
          <a:noFill/>
          <a:ln/>
        </p:spPr>
        <p:txBody>
          <a:bodyPr wrap="square" rtlCol="0" anchor="ctr">
            <a:normAutofit/>
          </a:bodyPr>
          <a:lstStyle/>
          <a:p>
            <a:pPr indent="0" marL="0">
              <a:buNone/>
            </a:pPr>
            <a:r>
              <a:rPr lang="en-US" sz="1700" dirty="0">
                <a:solidFill>
                  <a:srgbClr val="5B6273"/>
                </a:solidFill>
              </a:rPr>
              <a:t>Promote the strengths, but keep the implementation decision engineering-driven.</a:t>
            </a:r>
            <a:endParaRPr lang="en-US" sz="1700" dirty="0"/>
          </a:p>
        </p:txBody>
      </p:sp>
      <p:sp>
        <p:nvSpPr>
          <p:cNvPr id="7" name="Text 5"/>
          <p:cNvSpPr/>
          <p:nvPr/>
        </p:nvSpPr>
        <p:spPr>
          <a:xfrm>
            <a:off x="777240" y="175564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8" name="Text 6"/>
          <p:cNvSpPr/>
          <p:nvPr/>
        </p:nvSpPr>
        <p:spPr>
          <a:xfrm>
            <a:off x="1188720" y="173736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Use IronPDF when the workflow is PDF-first</a:t>
            </a:r>
            <a:endParaRPr lang="en-US" sz="2000" dirty="0"/>
          </a:p>
        </p:txBody>
      </p:sp>
      <p:sp>
        <p:nvSpPr>
          <p:cNvPr id="9" name="Text 7"/>
          <p:cNvSpPr/>
          <p:nvPr/>
        </p:nvSpPr>
        <p:spPr>
          <a:xfrm>
            <a:off x="1435608" y="2130552"/>
            <a:ext cx="9966960" cy="566928"/>
          </a:xfrm>
          <a:prstGeom prst="rect">
            <a:avLst/>
          </a:prstGeom>
          <a:noFill/>
          <a:ln/>
        </p:spPr>
        <p:txBody>
          <a:bodyPr wrap="square" rtlCol="0" anchor="ctr">
            <a:normAutofit/>
          </a:bodyPr>
          <a:lstStyle/>
          <a:p>
            <a:pPr indent="0" marL="0">
              <a:buNone/>
            </a:pPr>
            <a:r>
              <a:rPr lang="en-US" sz="1700" dirty="0">
                <a:solidFill>
                  <a:srgbClr val="394052"/>
                </a:solidFill>
              </a:rPr>
              <a:t>It is especially relevant when the portal must read, extract, convert, edit, secure, sign, merge, split, or generate PDFs in .NET.</a:t>
            </a:r>
            <a:endParaRPr lang="en-US" sz="1700" dirty="0"/>
          </a:p>
        </p:txBody>
      </p:sp>
      <p:sp>
        <p:nvSpPr>
          <p:cNvPr id="10" name="Text 8"/>
          <p:cNvSpPr/>
          <p:nvPr/>
        </p:nvSpPr>
        <p:spPr>
          <a:xfrm>
            <a:off x="777240" y="285292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1" name="Text 9"/>
          <p:cNvSpPr/>
          <p:nvPr/>
        </p:nvSpPr>
        <p:spPr>
          <a:xfrm>
            <a:off x="1188720" y="283464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Use OCR support when text extraction is not enough</a:t>
            </a:r>
            <a:endParaRPr lang="en-US" sz="2000" dirty="0"/>
          </a:p>
        </p:txBody>
      </p:sp>
      <p:sp>
        <p:nvSpPr>
          <p:cNvPr id="12" name="Text 10"/>
          <p:cNvSpPr/>
          <p:nvPr/>
        </p:nvSpPr>
        <p:spPr>
          <a:xfrm>
            <a:off x="1435608" y="3227832"/>
            <a:ext cx="9966960" cy="566928"/>
          </a:xfrm>
          <a:prstGeom prst="rect">
            <a:avLst/>
          </a:prstGeom>
          <a:noFill/>
          <a:ln/>
        </p:spPr>
        <p:txBody>
          <a:bodyPr wrap="square" rtlCol="0" anchor="ctr">
            <a:normAutofit/>
          </a:bodyPr>
          <a:lstStyle/>
          <a:p>
            <a:pPr indent="0" marL="0">
              <a:buNone/>
            </a:pPr>
            <a:r>
              <a:rPr lang="en-US" sz="1700" dirty="0">
                <a:solidFill>
                  <a:srgbClr val="394052"/>
                </a:solidFill>
              </a:rPr>
              <a:t>Scanned PDFs and image-based pages need OCR, not only embedded text extraction. IronOCR can read PDFs using OCR workflows.</a:t>
            </a:r>
            <a:endParaRPr lang="en-US" sz="1700" dirty="0"/>
          </a:p>
        </p:txBody>
      </p:sp>
      <p:sp>
        <p:nvSpPr>
          <p:cNvPr id="13" name="Text 11"/>
          <p:cNvSpPr/>
          <p:nvPr/>
        </p:nvSpPr>
        <p:spPr>
          <a:xfrm>
            <a:off x="777240" y="390448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4" name="Text 12"/>
          <p:cNvSpPr/>
          <p:nvPr/>
        </p:nvSpPr>
        <p:spPr>
          <a:xfrm>
            <a:off x="1188720" y="388620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Evaluate with your own documents</a:t>
            </a:r>
            <a:endParaRPr lang="en-US" sz="2000" dirty="0"/>
          </a:p>
        </p:txBody>
      </p:sp>
      <p:sp>
        <p:nvSpPr>
          <p:cNvPr id="15" name="Text 13"/>
          <p:cNvSpPr/>
          <p:nvPr/>
        </p:nvSpPr>
        <p:spPr>
          <a:xfrm>
            <a:off x="1435608" y="4279392"/>
            <a:ext cx="9966960" cy="566928"/>
          </a:xfrm>
          <a:prstGeom prst="rect">
            <a:avLst/>
          </a:prstGeom>
          <a:noFill/>
          <a:ln/>
        </p:spPr>
        <p:txBody>
          <a:bodyPr wrap="square" rtlCol="0" anchor="ctr">
            <a:normAutofit/>
          </a:bodyPr>
          <a:lstStyle/>
          <a:p>
            <a:pPr indent="0" marL="0">
              <a:buNone/>
            </a:pPr>
            <a:r>
              <a:rPr lang="en-US" sz="1700" dirty="0">
                <a:solidFill>
                  <a:srgbClr val="394052"/>
                </a:solidFill>
              </a:rPr>
              <a:t>Test accuracy, performance, memory use, licensing fit, deployment environment, and expected document types before production adoption.</a:t>
            </a:r>
            <a:endParaRPr lang="en-US" sz="1700" dirty="0"/>
          </a:p>
        </p:txBody>
      </p:sp>
      <p:sp>
        <p:nvSpPr>
          <p:cNvPr id="16" name="Text 14"/>
          <p:cNvSpPr/>
          <p:nvPr/>
        </p:nvSpPr>
        <p:spPr>
          <a:xfrm>
            <a:off x="777240" y="500176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7" name="Text 15"/>
          <p:cNvSpPr/>
          <p:nvPr/>
        </p:nvSpPr>
        <p:spPr>
          <a:xfrm>
            <a:off x="1188720" y="498348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Keep claims factual</a:t>
            </a:r>
            <a:endParaRPr lang="en-US" sz="2000" dirty="0"/>
          </a:p>
        </p:txBody>
      </p:sp>
      <p:sp>
        <p:nvSpPr>
          <p:cNvPr id="18" name="Text 16"/>
          <p:cNvSpPr/>
          <p:nvPr/>
        </p:nvSpPr>
        <p:spPr>
          <a:xfrm>
            <a:off x="1435608" y="5376672"/>
            <a:ext cx="9966960" cy="566928"/>
          </a:xfrm>
          <a:prstGeom prst="rect">
            <a:avLst/>
          </a:prstGeom>
          <a:noFill/>
          <a:ln/>
        </p:spPr>
        <p:txBody>
          <a:bodyPr wrap="square" rtlCol="0" anchor="ctr">
            <a:normAutofit/>
          </a:bodyPr>
          <a:lstStyle/>
          <a:p>
            <a:pPr indent="0" marL="0">
              <a:buNone/>
            </a:pPr>
            <a:r>
              <a:rPr lang="en-US" sz="1700" dirty="0">
                <a:solidFill>
                  <a:srgbClr val="394052"/>
                </a:solidFill>
              </a:rPr>
              <a:t>Reviews and product pages highlight robustness, ease of integration, and broad PDF capabilities; final selection should be validated against the course app workload.</a:t>
            </a:r>
            <a:endParaRPr lang="en-US" sz="1700" dirty="0"/>
          </a:p>
        </p:txBody>
      </p:sp>
      <p:sp>
        <p:nvSpPr>
          <p:cNvPr id="20" name="Text 17"/>
          <p:cNvSpPr/>
          <p:nvPr/>
        </p:nvSpPr>
        <p:spPr>
          <a:xfrm>
            <a:off x="685800" y="6355080"/>
            <a:ext cx="10424160" cy="228600"/>
          </a:xfrm>
          <a:prstGeom prst="rect">
            <a:avLst/>
          </a:prstGeom>
          <a:noFill/>
          <a:ln/>
        </p:spPr>
        <p:txBody>
          <a:bodyPr wrap="square" rtlCol="0" anchor="ctr">
            <a:normAutofit/>
          </a:bodyPr>
          <a:lstStyle/>
          <a:p>
            <a:pPr indent="0" marL="0">
              <a:buNone/>
            </a:pPr>
            <a:r>
              <a:rPr lang="en-US" sz="750" i="1" dirty="0">
                <a:solidFill>
                  <a:srgbClr val="7A8090"/>
                </a:solidFill>
              </a:rPr>
              <a:t>Balanced positioning follows Iron Software’s own guidance: test against workload; avoid unsupported superlatives.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sp>
      <p:sp>
        <p:nvSpPr>
          <p:cNvPr id="4" name="Text 2"/>
          <p:cNvSpPr/>
          <p:nvPr/>
        </p:nvSpPr>
        <p:spPr>
          <a:xfrm>
            <a:off x="11841480" y="6510528"/>
            <a:ext cx="201168" cy="182880"/>
          </a:xfrm>
          <a:prstGeom prst="rect">
            <a:avLst/>
          </a:prstGeom>
          <a:noFill/>
          <a:ln/>
        </p:spPr>
        <p:txBody>
          <a:bodyPr wrap="square" rtlCol="0" anchor="ctr"/>
          <a:lstStyle/>
          <a:p>
            <a:pPr algn="r" indent="0" marL="0">
              <a:buNone/>
            </a:pPr>
            <a:r>
              <a:rPr lang="en-US" sz="1400" dirty="0">
                <a:solidFill>
                  <a:srgbClr val="FFFFFF"/>
                </a:solidFill>
                <a:latin typeface="Arial" pitchFamily="34" charset="0"/>
                <a:ea typeface="Arial" pitchFamily="34" charset="-122"/>
                <a:cs typeface="Arial" pitchFamily="34" charset="-120"/>
              </a:rPr>
              <a:t>9</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indent="0" marL="0">
              <a:buNone/>
            </a:pPr>
            <a:r>
              <a:rPr lang="en-US" sz="3400" dirty="0">
                <a:solidFill>
                  <a:srgbClr val="007DB3"/>
                </a:solidFill>
                <a:latin typeface="Arial" pitchFamily="34" charset="0"/>
                <a:ea typeface="Arial" pitchFamily="34" charset="-122"/>
                <a:cs typeface="Arial" pitchFamily="34" charset="-120"/>
              </a:rPr>
              <a:t>How This Feeds the Next Demos</a:t>
            </a:r>
            <a:endParaRPr lang="en-US" sz="3400" dirty="0"/>
          </a:p>
        </p:txBody>
      </p:sp>
      <p:sp>
        <p:nvSpPr>
          <p:cNvPr id="6" name="Text 4"/>
          <p:cNvSpPr/>
          <p:nvPr/>
        </p:nvSpPr>
        <p:spPr>
          <a:xfrm>
            <a:off x="822960" y="170992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7" name="Text 5"/>
          <p:cNvSpPr/>
          <p:nvPr/>
        </p:nvSpPr>
        <p:spPr>
          <a:xfrm>
            <a:off x="1234440" y="169164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Next: Extract Text from PDFs with IronPDF</a:t>
            </a:r>
            <a:endParaRPr lang="en-US" sz="2000" dirty="0"/>
          </a:p>
        </p:txBody>
      </p:sp>
      <p:sp>
        <p:nvSpPr>
          <p:cNvPr id="8" name="Text 6"/>
          <p:cNvSpPr/>
          <p:nvPr/>
        </p:nvSpPr>
        <p:spPr>
          <a:xfrm>
            <a:off x="1481328" y="2084832"/>
            <a:ext cx="9966960" cy="566928"/>
          </a:xfrm>
          <a:prstGeom prst="rect">
            <a:avLst/>
          </a:prstGeom>
          <a:noFill/>
          <a:ln/>
        </p:spPr>
        <p:txBody>
          <a:bodyPr wrap="square" rtlCol="0" anchor="ctr">
            <a:normAutofit/>
          </a:bodyPr>
          <a:lstStyle/>
          <a:p>
            <a:pPr indent="0" marL="0">
              <a:buNone/>
            </a:pPr>
            <a:r>
              <a:rPr lang="en-US" sz="1700" dirty="0">
                <a:solidFill>
                  <a:srgbClr val="394052"/>
                </a:solidFill>
              </a:rPr>
              <a:t>Load a PDF, extract readable text, store extracted content, and make it available to the portal workflow.</a:t>
            </a:r>
            <a:endParaRPr lang="en-US" sz="1700" dirty="0"/>
          </a:p>
        </p:txBody>
      </p:sp>
      <p:sp>
        <p:nvSpPr>
          <p:cNvPr id="9" name="Text 7"/>
          <p:cNvSpPr/>
          <p:nvPr/>
        </p:nvSpPr>
        <p:spPr>
          <a:xfrm>
            <a:off x="822960" y="271576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0" name="Text 8"/>
          <p:cNvSpPr/>
          <p:nvPr/>
        </p:nvSpPr>
        <p:spPr>
          <a:xfrm>
            <a:off x="1234440" y="269748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Then: Handle Scanned PDFs with OCR / IronSuite Support</a:t>
            </a:r>
            <a:endParaRPr lang="en-US" sz="2000" dirty="0"/>
          </a:p>
        </p:txBody>
      </p:sp>
      <p:sp>
        <p:nvSpPr>
          <p:cNvPr id="11" name="Text 9"/>
          <p:cNvSpPr/>
          <p:nvPr/>
        </p:nvSpPr>
        <p:spPr>
          <a:xfrm>
            <a:off x="1481328" y="3090672"/>
            <a:ext cx="9966960" cy="566928"/>
          </a:xfrm>
          <a:prstGeom prst="rect">
            <a:avLst/>
          </a:prstGeom>
          <a:noFill/>
          <a:ln/>
        </p:spPr>
        <p:txBody>
          <a:bodyPr wrap="square" rtlCol="0" anchor="ctr">
            <a:normAutofit/>
          </a:bodyPr>
          <a:lstStyle/>
          <a:p>
            <a:pPr indent="0" marL="0">
              <a:buNone/>
            </a:pPr>
            <a:r>
              <a:rPr lang="en-US" sz="1700" dirty="0">
                <a:solidFill>
                  <a:srgbClr val="394052"/>
                </a:solidFill>
              </a:rPr>
              <a:t>Identify when embedded text extraction is insufficient and introduce OCR handling for image-based documents.</a:t>
            </a:r>
            <a:endParaRPr lang="en-US" sz="1700" dirty="0"/>
          </a:p>
        </p:txBody>
      </p:sp>
      <p:sp>
        <p:nvSpPr>
          <p:cNvPr id="12" name="Text 10"/>
          <p:cNvSpPr/>
          <p:nvPr/>
        </p:nvSpPr>
        <p:spPr>
          <a:xfrm>
            <a:off x="822960" y="372160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3" name="Text 11"/>
          <p:cNvSpPr/>
          <p:nvPr/>
        </p:nvSpPr>
        <p:spPr>
          <a:xfrm>
            <a:off x="1234440" y="370332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Then: Build a Document Preprocessing Pipeline</a:t>
            </a:r>
            <a:endParaRPr lang="en-US" sz="2000" dirty="0"/>
          </a:p>
        </p:txBody>
      </p:sp>
      <p:sp>
        <p:nvSpPr>
          <p:cNvPr id="14" name="Text 12"/>
          <p:cNvSpPr/>
          <p:nvPr/>
        </p:nvSpPr>
        <p:spPr>
          <a:xfrm>
            <a:off x="1481328" y="4096512"/>
            <a:ext cx="9966960" cy="566928"/>
          </a:xfrm>
          <a:prstGeom prst="rect">
            <a:avLst/>
          </a:prstGeom>
          <a:noFill/>
          <a:ln/>
        </p:spPr>
        <p:txBody>
          <a:bodyPr wrap="square" rtlCol="0" anchor="ctr">
            <a:normAutofit/>
          </a:bodyPr>
          <a:lstStyle/>
          <a:p>
            <a:pPr indent="0" marL="0">
              <a:buNone/>
            </a:pPr>
            <a:r>
              <a:rPr lang="en-US" sz="1700" dirty="0">
                <a:solidFill>
                  <a:srgbClr val="394052"/>
                </a:solidFill>
              </a:rPr>
              <a:t>Normalize content, attach metadata, prepare chunks, and get the data ready for embeddings and retrieval.</a:t>
            </a:r>
            <a:endParaRPr lang="en-US" sz="1700" dirty="0"/>
          </a:p>
        </p:txBody>
      </p:sp>
      <p:sp>
        <p:nvSpPr>
          <p:cNvPr id="15" name="Text 13"/>
          <p:cNvSpPr/>
          <p:nvPr/>
        </p:nvSpPr>
        <p:spPr>
          <a:xfrm>
            <a:off x="822960" y="472744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6" name="Text 14"/>
          <p:cNvSpPr/>
          <p:nvPr/>
        </p:nvSpPr>
        <p:spPr>
          <a:xfrm>
            <a:off x="1234440" y="4709160"/>
            <a:ext cx="10424160" cy="310896"/>
          </a:xfrm>
          <a:prstGeom prst="rect">
            <a:avLst/>
          </a:prstGeom>
          <a:noFill/>
          <a:ln/>
        </p:spPr>
        <p:txBody>
          <a:bodyPr wrap="square" rtlCol="0" anchor="ctr">
            <a:normAutofit/>
          </a:bodyPr>
          <a:lstStyle/>
          <a:p>
            <a:pPr indent="0" marL="0">
              <a:buNone/>
            </a:pPr>
            <a:r>
              <a:rPr lang="en-US" sz="2000" b="1" dirty="0">
                <a:solidFill>
                  <a:srgbClr val="394052"/>
                </a:solidFill>
              </a:rPr>
              <a:t>Finally: Ground the Copilot with Retrieved Knowledge</a:t>
            </a:r>
            <a:endParaRPr lang="en-US" sz="2000" dirty="0"/>
          </a:p>
        </p:txBody>
      </p:sp>
      <p:sp>
        <p:nvSpPr>
          <p:cNvPr id="17" name="Text 15"/>
          <p:cNvSpPr/>
          <p:nvPr/>
        </p:nvSpPr>
        <p:spPr>
          <a:xfrm>
            <a:off x="1481328" y="5102352"/>
            <a:ext cx="9966960" cy="566928"/>
          </a:xfrm>
          <a:prstGeom prst="rect">
            <a:avLst/>
          </a:prstGeom>
          <a:noFill/>
          <a:ln/>
        </p:spPr>
        <p:txBody>
          <a:bodyPr wrap="square" rtlCol="0" anchor="ctr">
            <a:normAutofit/>
          </a:bodyPr>
          <a:lstStyle/>
          <a:p>
            <a:pPr indent="0" marL="0">
              <a:buNone/>
            </a:pPr>
            <a:r>
              <a:rPr lang="en-US" sz="1700" dirty="0">
                <a:solidFill>
                  <a:srgbClr val="394052"/>
                </a:solidFill>
              </a:rPr>
              <a:t>Use Semantic Kernel and Azure OpenAI with retrieved document context, source references, and summarized history.</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9"/>
        </a:solidFill>
      </p:bgPr>
    </p:bg>
    <p:spTree>
      <p:nvGrpSpPr>
        <p:cNvPr id="1" name=""/>
        <p:cNvGrpSpPr/>
        <p:nvPr/>
      </p:nvGrpSpPr>
      <p:grpSpPr>
        <a:xfrm>
          <a:off x="0" y="0"/>
          <a:ext cx="0" cy="0"/>
          <a:chOff x="0" y="0"/>
          <a:chExt cx="0" cy="0"/>
        </a:xfrm>
      </p:grpSpPr>
      <p:sp>
        <p:nvSpPr>
          <p:cNvPr id="2" name="Shape 0"/>
          <p:cNvSpPr/>
          <p:nvPr/>
        </p:nvSpPr>
        <p:spPr>
          <a:xfrm>
            <a:off x="0" y="1115568"/>
            <a:ext cx="365760" cy="658368"/>
          </a:xfrm>
          <a:prstGeom prst="chevron">
            <a:avLst/>
          </a:prstGeom>
          <a:solidFill>
            <a:srgbClr val="00A6CE"/>
          </a:solidFill>
          <a:ln w="12700">
            <a:solidFill>
              <a:srgbClr val="00A6CE"/>
            </a:solidFill>
            <a:prstDash val="solid"/>
          </a:ln>
        </p:spPr>
      </p:sp>
      <p:sp>
        <p:nvSpPr>
          <p:cNvPr id="3" name="Shape 1"/>
          <p:cNvSpPr/>
          <p:nvPr/>
        </p:nvSpPr>
        <p:spPr>
          <a:xfrm>
            <a:off x="11631168" y="6236208"/>
            <a:ext cx="548640" cy="621792"/>
          </a:xfrm>
          <a:prstGeom prst="rtTriangle">
            <a:avLst/>
          </a:prstGeom>
          <a:solidFill>
            <a:srgbClr val="00A6CE"/>
          </a:solidFill>
          <a:ln w="12700">
            <a:solidFill>
              <a:srgbClr val="00A6CE"/>
            </a:solidFill>
            <a:prstDash val="solid"/>
          </a:ln>
        </p:spPr>
      </p:sp>
      <p:sp>
        <p:nvSpPr>
          <p:cNvPr id="4" name="Text 2"/>
          <p:cNvSpPr/>
          <p:nvPr/>
        </p:nvSpPr>
        <p:spPr>
          <a:xfrm>
            <a:off x="11841480" y="6510528"/>
            <a:ext cx="201168" cy="182880"/>
          </a:xfrm>
          <a:prstGeom prst="rect">
            <a:avLst/>
          </a:prstGeom>
          <a:noFill/>
          <a:ln/>
        </p:spPr>
        <p:txBody>
          <a:bodyPr wrap="square" rtlCol="0" anchor="ctr"/>
          <a:lstStyle/>
          <a:p>
            <a:pPr algn="r" indent="0" marL="0">
              <a:buNone/>
            </a:pPr>
            <a:r>
              <a:rPr lang="en-US" sz="1400" dirty="0">
                <a:solidFill>
                  <a:srgbClr val="FFFFFF"/>
                </a:solidFill>
                <a:latin typeface="Arial" pitchFamily="34" charset="0"/>
                <a:ea typeface="Arial" pitchFamily="34" charset="-122"/>
                <a:cs typeface="Arial" pitchFamily="34" charset="-120"/>
              </a:rPr>
              <a:t>10</a:t>
            </a:r>
            <a:endParaRPr lang="en-US" sz="1400" dirty="0"/>
          </a:p>
        </p:txBody>
      </p:sp>
      <p:sp>
        <p:nvSpPr>
          <p:cNvPr id="5" name="Text 3"/>
          <p:cNvSpPr/>
          <p:nvPr/>
        </p:nvSpPr>
        <p:spPr>
          <a:xfrm>
            <a:off x="603504" y="594360"/>
            <a:ext cx="9784080" cy="640080"/>
          </a:xfrm>
          <a:prstGeom prst="rect">
            <a:avLst/>
          </a:prstGeom>
          <a:noFill/>
          <a:ln/>
        </p:spPr>
        <p:txBody>
          <a:bodyPr wrap="square" rtlCol="0" anchor="ctr">
            <a:normAutofit/>
          </a:bodyPr>
          <a:lstStyle/>
          <a:p>
            <a:pPr indent="0" marL="0">
              <a:buNone/>
            </a:pPr>
            <a:r>
              <a:rPr lang="en-US" sz="3400" dirty="0">
                <a:solidFill>
                  <a:srgbClr val="007DB3"/>
                </a:solidFill>
                <a:latin typeface="Arial" pitchFamily="34" charset="0"/>
                <a:ea typeface="Arial" pitchFamily="34" charset="-122"/>
                <a:cs typeface="Arial" pitchFamily="34" charset="-120"/>
              </a:rPr>
              <a:t>References Used</a:t>
            </a:r>
            <a:endParaRPr lang="en-US" sz="3400" dirty="0"/>
          </a:p>
        </p:txBody>
      </p:sp>
      <p:sp>
        <p:nvSpPr>
          <p:cNvPr id="6" name="Text 4"/>
          <p:cNvSpPr/>
          <p:nvPr/>
        </p:nvSpPr>
        <p:spPr>
          <a:xfrm>
            <a:off x="777240" y="152704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7" name="Text 5"/>
          <p:cNvSpPr/>
          <p:nvPr/>
        </p:nvSpPr>
        <p:spPr>
          <a:xfrm>
            <a:off x="1188720" y="1508760"/>
            <a:ext cx="10424160" cy="310896"/>
          </a:xfrm>
          <a:prstGeom prst="rect">
            <a:avLst/>
          </a:prstGeom>
          <a:noFill/>
          <a:ln/>
        </p:spPr>
        <p:txBody>
          <a:bodyPr wrap="square" rtlCol="0" anchor="ctr">
            <a:normAutofit/>
          </a:bodyPr>
          <a:lstStyle/>
          <a:p>
            <a:pPr indent="0" marL="0">
              <a:buNone/>
            </a:pPr>
            <a:r>
              <a:rPr lang="en-US" sz="1700" b="1" dirty="0">
                <a:solidFill>
                  <a:srgbClr val="394052"/>
                </a:solidFill>
              </a:rPr>
              <a:t>IronPDF official docs and product material</a:t>
            </a:r>
            <a:endParaRPr lang="en-US" sz="1700" dirty="0"/>
          </a:p>
        </p:txBody>
      </p:sp>
      <p:sp>
        <p:nvSpPr>
          <p:cNvPr id="8" name="Text 6"/>
          <p:cNvSpPr/>
          <p:nvPr/>
        </p:nvSpPr>
        <p:spPr>
          <a:xfrm>
            <a:off x="1435608" y="1901952"/>
            <a:ext cx="9966960" cy="411480"/>
          </a:xfrm>
          <a:prstGeom prst="rect">
            <a:avLst/>
          </a:prstGeom>
          <a:noFill/>
          <a:ln/>
        </p:spPr>
        <p:txBody>
          <a:bodyPr wrap="square" rtlCol="0" anchor="ctr">
            <a:normAutofit/>
          </a:bodyPr>
          <a:lstStyle/>
          <a:p>
            <a:pPr indent="0" marL="0">
              <a:buNone/>
            </a:pPr>
            <a:r>
              <a:rPr lang="en-US" sz="1450" dirty="0">
                <a:solidFill>
                  <a:srgbClr val="394052"/>
                </a:solidFill>
              </a:rPr>
              <a:t>ironpdf.com and NuGet package metadata for PDF generation, editing, extraction, platform support, and .NET compatibility.</a:t>
            </a:r>
            <a:endParaRPr lang="en-US" sz="1450" dirty="0"/>
          </a:p>
        </p:txBody>
      </p:sp>
      <p:sp>
        <p:nvSpPr>
          <p:cNvPr id="9" name="Text 7"/>
          <p:cNvSpPr/>
          <p:nvPr/>
        </p:nvSpPr>
        <p:spPr>
          <a:xfrm>
            <a:off x="777240" y="239572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0" name="Text 8"/>
          <p:cNvSpPr/>
          <p:nvPr/>
        </p:nvSpPr>
        <p:spPr>
          <a:xfrm>
            <a:off x="1188720" y="2377440"/>
            <a:ext cx="10424160" cy="310896"/>
          </a:xfrm>
          <a:prstGeom prst="rect">
            <a:avLst/>
          </a:prstGeom>
          <a:noFill/>
          <a:ln/>
        </p:spPr>
        <p:txBody>
          <a:bodyPr wrap="square" rtlCol="0" anchor="ctr">
            <a:normAutofit/>
          </a:bodyPr>
          <a:lstStyle/>
          <a:p>
            <a:pPr indent="0" marL="0">
              <a:buNone/>
            </a:pPr>
            <a:r>
              <a:rPr lang="en-US" sz="1700" b="1" dirty="0">
                <a:solidFill>
                  <a:srgbClr val="394052"/>
                </a:solidFill>
              </a:rPr>
              <a:t>Iron Software / IronSuite official guidance</a:t>
            </a:r>
            <a:endParaRPr lang="en-US" sz="1700" dirty="0"/>
          </a:p>
        </p:txBody>
      </p:sp>
      <p:sp>
        <p:nvSpPr>
          <p:cNvPr id="11" name="Text 9"/>
          <p:cNvSpPr/>
          <p:nvPr/>
        </p:nvSpPr>
        <p:spPr>
          <a:xfrm>
            <a:off x="1435608" y="2770632"/>
            <a:ext cx="9966960" cy="411480"/>
          </a:xfrm>
          <a:prstGeom prst="rect">
            <a:avLst/>
          </a:prstGeom>
          <a:noFill/>
          <a:ln/>
        </p:spPr>
        <p:txBody>
          <a:bodyPr wrap="square" rtlCol="0" anchor="ctr">
            <a:normAutofit/>
          </a:bodyPr>
          <a:lstStyle/>
          <a:p>
            <a:pPr indent="0" marL="0">
              <a:buNone/>
            </a:pPr>
            <a:r>
              <a:rPr lang="en-US" sz="1450" dirty="0">
                <a:solidFill>
                  <a:srgbClr val="394052"/>
                </a:solidFill>
              </a:rPr>
              <a:t>ironsoftware.com suite documentation for the library bundle, included tools, licensing model, and positioning guidance.</a:t>
            </a:r>
            <a:endParaRPr lang="en-US" sz="1450" dirty="0"/>
          </a:p>
        </p:txBody>
      </p:sp>
      <p:sp>
        <p:nvSpPr>
          <p:cNvPr id="12" name="Text 10"/>
          <p:cNvSpPr/>
          <p:nvPr/>
        </p:nvSpPr>
        <p:spPr>
          <a:xfrm>
            <a:off x="777240" y="326440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3" name="Text 11"/>
          <p:cNvSpPr/>
          <p:nvPr/>
        </p:nvSpPr>
        <p:spPr>
          <a:xfrm>
            <a:off x="1188720" y="3246120"/>
            <a:ext cx="10424160" cy="310896"/>
          </a:xfrm>
          <a:prstGeom prst="rect">
            <a:avLst/>
          </a:prstGeom>
          <a:noFill/>
          <a:ln/>
        </p:spPr>
        <p:txBody>
          <a:bodyPr wrap="square" rtlCol="0" anchor="ctr">
            <a:normAutofit/>
          </a:bodyPr>
          <a:lstStyle/>
          <a:p>
            <a:pPr indent="0" marL="0">
              <a:buNone/>
            </a:pPr>
            <a:r>
              <a:rPr lang="en-US" sz="1700" b="1" dirty="0">
                <a:solidFill>
                  <a:srgbClr val="394052"/>
                </a:solidFill>
              </a:rPr>
              <a:t>IronOCR official documentation</a:t>
            </a:r>
            <a:endParaRPr lang="en-US" sz="1700" dirty="0"/>
          </a:p>
        </p:txBody>
      </p:sp>
      <p:sp>
        <p:nvSpPr>
          <p:cNvPr id="14" name="Text 12"/>
          <p:cNvSpPr/>
          <p:nvPr/>
        </p:nvSpPr>
        <p:spPr>
          <a:xfrm>
            <a:off x="1435608" y="3639312"/>
            <a:ext cx="9966960" cy="411480"/>
          </a:xfrm>
          <a:prstGeom prst="rect">
            <a:avLst/>
          </a:prstGeom>
          <a:noFill/>
          <a:ln/>
        </p:spPr>
        <p:txBody>
          <a:bodyPr wrap="square" rtlCol="0" anchor="ctr">
            <a:normAutofit/>
          </a:bodyPr>
          <a:lstStyle/>
          <a:p>
            <a:pPr indent="0" marL="0">
              <a:buNone/>
            </a:pPr>
            <a:r>
              <a:rPr lang="en-US" sz="1450" dirty="0">
                <a:solidFill>
                  <a:srgbClr val="394052"/>
                </a:solidFill>
              </a:rPr>
              <a:t>IronOCR PDF reading guidance for OCR support with scanned and searchable PDFs.</a:t>
            </a:r>
            <a:endParaRPr lang="en-US" sz="1450" dirty="0"/>
          </a:p>
        </p:txBody>
      </p:sp>
      <p:sp>
        <p:nvSpPr>
          <p:cNvPr id="15" name="Text 13"/>
          <p:cNvSpPr/>
          <p:nvPr/>
        </p:nvSpPr>
        <p:spPr>
          <a:xfrm>
            <a:off x="777240" y="413308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6" name="Text 14"/>
          <p:cNvSpPr/>
          <p:nvPr/>
        </p:nvSpPr>
        <p:spPr>
          <a:xfrm>
            <a:off x="1188720" y="4114800"/>
            <a:ext cx="10424160" cy="310896"/>
          </a:xfrm>
          <a:prstGeom prst="rect">
            <a:avLst/>
          </a:prstGeom>
          <a:noFill/>
          <a:ln/>
        </p:spPr>
        <p:txBody>
          <a:bodyPr wrap="square" rtlCol="0" anchor="ctr">
            <a:normAutofit/>
          </a:bodyPr>
          <a:lstStyle/>
          <a:p>
            <a:pPr indent="0" marL="0">
              <a:buNone/>
            </a:pPr>
            <a:r>
              <a:rPr lang="en-US" sz="1700" b="1" dirty="0">
                <a:solidFill>
                  <a:srgbClr val="394052"/>
                </a:solidFill>
              </a:rPr>
              <a:t>Third-party review context</a:t>
            </a:r>
            <a:endParaRPr lang="en-US" sz="1700" dirty="0"/>
          </a:p>
        </p:txBody>
      </p:sp>
      <p:sp>
        <p:nvSpPr>
          <p:cNvPr id="17" name="Text 15"/>
          <p:cNvSpPr/>
          <p:nvPr/>
        </p:nvSpPr>
        <p:spPr>
          <a:xfrm>
            <a:off x="1435608" y="4507992"/>
            <a:ext cx="9966960" cy="411480"/>
          </a:xfrm>
          <a:prstGeom prst="rect">
            <a:avLst/>
          </a:prstGeom>
          <a:noFill/>
          <a:ln/>
        </p:spPr>
        <p:txBody>
          <a:bodyPr wrap="square" rtlCol="0" anchor="ctr">
            <a:normAutofit/>
          </a:bodyPr>
          <a:lstStyle/>
          <a:p>
            <a:pPr indent="0" marL="0">
              <a:buNone/>
            </a:pPr>
            <a:r>
              <a:rPr lang="en-US" sz="1450" dirty="0">
                <a:solidFill>
                  <a:srgbClr val="394052"/>
                </a:solidFill>
              </a:rPr>
              <a:t>G2 review page for independent product characterization, used conservatively and not as a replacement for hands-on validation.</a:t>
            </a:r>
            <a:endParaRPr lang="en-US" sz="1450" dirty="0"/>
          </a:p>
        </p:txBody>
      </p:sp>
      <p:sp>
        <p:nvSpPr>
          <p:cNvPr id="18" name="Text 16"/>
          <p:cNvSpPr/>
          <p:nvPr/>
        </p:nvSpPr>
        <p:spPr>
          <a:xfrm>
            <a:off x="777240" y="5001768"/>
            <a:ext cx="228600" cy="201168"/>
          </a:xfrm>
          <a:prstGeom prst="rect">
            <a:avLst/>
          </a:prstGeom>
          <a:noFill/>
          <a:ln/>
        </p:spPr>
        <p:txBody>
          <a:bodyPr wrap="square" rtlCol="0" anchor="ctr"/>
          <a:lstStyle/>
          <a:p>
            <a:pPr indent="0" marL="0">
              <a:buNone/>
            </a:pPr>
            <a:r>
              <a:rPr lang="en-US" sz="1800" b="1" dirty="0">
                <a:solidFill>
                  <a:srgbClr val="00A6CE"/>
                </a:solidFill>
              </a:rPr>
              <a:t>▸</a:t>
            </a:r>
            <a:endParaRPr lang="en-US" sz="1800" dirty="0"/>
          </a:p>
        </p:txBody>
      </p:sp>
      <p:sp>
        <p:nvSpPr>
          <p:cNvPr id="19" name="Text 17"/>
          <p:cNvSpPr/>
          <p:nvPr/>
        </p:nvSpPr>
        <p:spPr>
          <a:xfrm>
            <a:off x="1188720" y="4983480"/>
            <a:ext cx="10424160" cy="310896"/>
          </a:xfrm>
          <a:prstGeom prst="rect">
            <a:avLst/>
          </a:prstGeom>
          <a:noFill/>
          <a:ln/>
        </p:spPr>
        <p:txBody>
          <a:bodyPr wrap="square" rtlCol="0" anchor="ctr">
            <a:normAutofit/>
          </a:bodyPr>
          <a:lstStyle/>
          <a:p>
            <a:pPr indent="0" marL="0">
              <a:buNone/>
            </a:pPr>
            <a:r>
              <a:rPr lang="en-US" sz="1700" b="1" dirty="0">
                <a:solidFill>
                  <a:srgbClr val="394052"/>
                </a:solidFill>
              </a:rPr>
              <a:t>Current course outline</a:t>
            </a:r>
            <a:endParaRPr lang="en-US" sz="1700" dirty="0"/>
          </a:p>
        </p:txBody>
      </p:sp>
      <p:sp>
        <p:nvSpPr>
          <p:cNvPr id="20" name="Text 18"/>
          <p:cNvSpPr/>
          <p:nvPr/>
        </p:nvSpPr>
        <p:spPr>
          <a:xfrm>
            <a:off x="1435608" y="5376672"/>
            <a:ext cx="9966960" cy="411480"/>
          </a:xfrm>
          <a:prstGeom prst="rect">
            <a:avLst/>
          </a:prstGeom>
          <a:noFill/>
          <a:ln/>
        </p:spPr>
        <p:txBody>
          <a:bodyPr wrap="square" rtlCol="0" anchor="ctr">
            <a:normAutofit/>
          </a:bodyPr>
          <a:lstStyle/>
          <a:p>
            <a:pPr indent="0" marL="0">
              <a:buNone/>
            </a:pPr>
            <a:r>
              <a:rPr lang="en-US" sz="1450" dirty="0">
                <a:solidFill>
                  <a:srgbClr val="394052"/>
                </a:solidFill>
              </a:rPr>
              <a:t>Semantic Kernel SDK - Integrating AI in Applications curriculum sequence for Section 8 document intelligence lessons.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Course: Semantic Kernel SDK - Integrating AI in Applications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IronPDF and IronSuite in AI Document Workflows</dc:title>
  <dc:subject>IronPDF and IronSuite in AI Document Workflows</dc:subject>
  <dc:creator>Trevoir Williams</dc:creator>
  <cp:lastModifiedBy>Trevoir Williams</cp:lastModifiedBy>
  <cp:revision>1</cp:revision>
  <dcterms:created xsi:type="dcterms:W3CDTF">2026-05-12T20:07:28Z</dcterms:created>
  <dcterms:modified xsi:type="dcterms:W3CDTF">2026-05-12T20:07:28Z</dcterms:modified>
</cp:coreProperties>
</file>